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introducing the project title, the team, and the central question. Explain that this is Phase 1 of the project and the goal here is exploratory rather than a final causal claim. Say that the deck is structured in the same order as the report: first the experiment context, then preprocessing and analysis choices, then the main results and what they mean for Phase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conceptual bridge between event segmentation and MST. The key motivation is that boundaries are not only perceptual transitions; they may reorganize memory. Mention that the target paper motivates the expected pattern: a cost immediately after a boundary and a possible benefit just before it. Keep the emphasis on why the experiment is interesting, not yet on our own findings.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five research questions clearly. Then describe the experiment setup: there are three versions of the task, which differ in the type of boundary cue. Also define post, mid, and pre positions because that distinction is used throughout the rest of the analysis. This slide should make later results easy to follow.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show that the dataset was organized before any statistical testing. State the paired sample sizes in each condition and remind the audience that incomplete sessions were excluded. Point to the dataset overview figure and note that file resolution and participant pairing were a real preprocessing step, not assumed clean input.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this as the analysis pipeline. Explain the file-pairing decisions carefully because they justify why the sample sizes are what they are. Mention the duplicate-resolution rule, the exclusion of incomplete sessions, and the boundary-position labeling logic. End by saying that the participant, not the individual trial, is the analytical unit.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variables slowly because this is where the audience needs clarity. Explain REC as corrected recognition and LDI as corrected lure discrimination. Make it clear that both metrics subtract foil-based response tendencies to reduce response bias. Then mention the alternate scoring sensitivity check and the lure-bin analysis as supporting analyses.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analysis slide, so emphasize why the tests match the design. Because boundary position varies within participants, repeated-measures ANOVA is appropriate within each condition. Then explain that Holm correction was used for the pairwise follow-up tests to control false positives. Close by linking the hypotheses directly to the three main dependent variables.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the results by showing that the data behave sensibly at a descriptive level. Point out the diagonal pattern in the heat map: targets map to old, lures map to similar, and foils map to new. This is a credibility check for all later analyses, because meaningful REC and LDI scores depend on correct use of the response categories.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strongest result in the report. Explain that when the task rule changed, post-boundary items took longer to encode than mid or pre items. The effect is strong in both the combined item-plus-task condition and the task-only condition, but not in item-only. Interpretation: boundaries appear to increase processing demands primarily when the task context changes.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the two outcomes clearly. For REC, highlight the post-boundary cost, especially in the item-plus-task condition where post is lower than both mid and pre. For LDI, state plainly that the expected pre-boundary advantage did not emerge reliably in any condition. That makes the study a partial replication: recognition shows the predicted direction more clearly than lure discrimination.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interpret rather than repeat test statistics. The main message is that the experiment produces a strong boundary-related processing effect and a moderate recognition cost after boundaries, but not the clean pre-boundary LDI advantage reported in the target paper. The lure-bin pattern is important because it shows that the MST itself is functioning normally even though one predicted directional effect was weak.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summarizing the study in three lines: boundaries clearly affected encoding, recognition showed the most convincing memory effect, and LDI did not cleanly replicate the expected pre-boundary benefit. Then state the forward-looking plan: Phase 2 should prioritize direct testing of the post-boundary recognition effect and investigate why the LDI pattern was weak. End by framing Phase 1 as successful exploratory groundwork rather than as a failed replication.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1097280"/>
            <a:ext cx="10881360" cy="448056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8046720" cy="731520"/>
          </a:xfrm>
          <a:prstGeom prst="rect">
            <a:avLst/>
          </a:prstGeom>
          <a:noFill/>
        </p:spPr>
        <p:txBody>
          <a:bodyPr wrap="none">
            <a:spAutoFit/>
          </a:bodyPr>
          <a:lstStyle/>
          <a:p>
            <a:r>
              <a:rPr sz="2400" b="1">
                <a:solidFill>
                  <a:srgbClr val="14213D"/>
                </a:solidFill>
                <a:latin typeface="Aptos Display"/>
              </a:rPr>
              <a:t>Behavioural Research in Statistical Methods</a:t>
            </a:r>
          </a:p>
        </p:txBody>
      </p:sp>
      <p:sp>
        <p:nvSpPr>
          <p:cNvPr id="5" name="TextBox 4"/>
          <p:cNvSpPr txBox="1"/>
          <p:nvPr/>
        </p:nvSpPr>
        <p:spPr>
          <a:xfrm>
            <a:off x="530352" y="1024128"/>
            <a:ext cx="7863840" cy="411480"/>
          </a:xfrm>
          <a:prstGeom prst="rect">
            <a:avLst/>
          </a:prstGeom>
          <a:noFill/>
        </p:spPr>
        <p:txBody>
          <a:bodyPr wrap="none">
            <a:spAutoFit/>
          </a:bodyPr>
          <a:lstStyle/>
          <a:p>
            <a:r>
              <a:rPr sz="1150">
                <a:solidFill>
                  <a:srgbClr val="5C6670"/>
                </a:solidFill>
                <a:latin typeface="Aptos"/>
              </a:rPr>
              <a:t>Project Report 1 | Mnemonic Similarity Task (MST)</a:t>
            </a:r>
          </a:p>
        </p:txBody>
      </p:sp>
      <p:sp>
        <p:nvSpPr>
          <p:cNvPr id="6" name="Rounded Rectangle 5"/>
          <p:cNvSpPr/>
          <p:nvPr/>
        </p:nvSpPr>
        <p:spPr>
          <a:xfrm>
            <a:off x="9829800" y="566928"/>
            <a:ext cx="1737360" cy="384048"/>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336699"/>
                </a:solidFill>
                <a:latin typeface="Aptos"/>
              </a:rPr>
              <a:t>Owner: Shared</a:t>
            </a:r>
          </a:p>
        </p:txBody>
      </p:sp>
      <p:sp>
        <p:nvSpPr>
          <p:cNvPr id="7" name="TextBox 6"/>
          <p:cNvSpPr txBox="1"/>
          <p:nvPr/>
        </p:nvSpPr>
        <p:spPr>
          <a:xfrm>
            <a:off x="914400" y="1828800"/>
            <a:ext cx="9875520" cy="1828800"/>
          </a:xfrm>
          <a:prstGeom prst="rect">
            <a:avLst/>
          </a:prstGeom>
          <a:noFill/>
        </p:spPr>
        <p:txBody>
          <a:bodyPr wrap="none">
            <a:spAutoFit/>
          </a:bodyPr>
          <a:lstStyle/>
          <a:p>
            <a:r>
              <a:rPr b="1" sz="2800">
                <a:solidFill>
                  <a:srgbClr val="14213D"/>
                </a:solidFill>
                <a:latin typeface="Aptos Display"/>
              </a:rPr>
              <a:t>Event Boundaries and Recognition Memory</a:t>
            </a:r>
          </a:p>
          <a:p>
            <a:pPr>
              <a:defRPr sz="1800">
                <a:solidFill>
                  <a:srgbClr val="336699"/>
                </a:solidFill>
                <a:latin typeface="Aptos"/>
              </a:defRPr>
            </a:pPr>
            <a:r>
              <a:t>Team Earphones</a:t>
            </a:r>
          </a:p>
          <a:p>
            <a:pPr>
              <a:defRPr sz="1800">
                <a:solidFill>
                  <a:srgbClr val="282828"/>
                </a:solidFill>
                <a:latin typeface="Aptos"/>
              </a:defRPr>
            </a:pPr>
            <a:r>
              <a:t>Sambu Aneesh | Renu Sree Vyshnavi | Pavan Harshit Chinta</a:t>
            </a:r>
          </a:p>
        </p:txBody>
      </p:sp>
      <p:sp>
        <p:nvSpPr>
          <p:cNvPr id="8" name="TextBox 7"/>
          <p:cNvSpPr txBox="1"/>
          <p:nvPr/>
        </p:nvSpPr>
        <p:spPr>
          <a:xfrm>
            <a:off x="914400" y="3657600"/>
            <a:ext cx="10058400" cy="1554480"/>
          </a:xfrm>
          <a:prstGeom prst="rect">
            <a:avLst/>
          </a:prstGeom>
          <a:noFill/>
        </p:spPr>
        <p:txBody>
          <a:bodyPr wrap="square">
            <a:spAutoFit/>
          </a:bodyPr>
          <a:lstStyle/>
          <a:p>
            <a:pPr>
              <a:spcAft>
                <a:spcPts val="800"/>
              </a:spcAft>
              <a:defRPr sz="1600">
                <a:solidFill>
                  <a:srgbClr val="282828"/>
                </a:solidFill>
                <a:latin typeface="Aptos"/>
              </a:defRPr>
            </a:pPr>
            <a:r>
              <a:t>Exploratory analysis of MST data to test how memory changes around event boundaries.</a:t>
            </a:r>
          </a:p>
          <a:p>
            <a:pPr>
              <a:spcAft>
                <a:spcPts val="800"/>
              </a:spcAft>
              <a:defRPr sz="1600">
                <a:solidFill>
                  <a:srgbClr val="282828"/>
                </a:solidFill>
                <a:latin typeface="Aptos"/>
              </a:defRPr>
            </a:pPr>
            <a:r>
              <a:t>Focus on encoding response time, recognition memory (REC), and lure discrimination index (LDI).</a:t>
            </a:r>
          </a:p>
          <a:p>
            <a:pPr>
              <a:spcAft>
                <a:spcPts val="800"/>
              </a:spcAft>
              <a:defRPr sz="1600">
                <a:solidFill>
                  <a:srgbClr val="282828"/>
                </a:solidFill>
                <a:latin typeface="Aptos"/>
              </a:defRPr>
            </a:pPr>
            <a:r>
              <a:t>Presentation flow: context -&gt; methods -&gt; results -&gt; interpretation -&gt; conclusion.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8046720" cy="731520"/>
          </a:xfrm>
          <a:prstGeom prst="rect">
            <a:avLst/>
          </a:prstGeom>
          <a:noFill/>
        </p:spPr>
        <p:txBody>
          <a:bodyPr wrap="none">
            <a:spAutoFit/>
          </a:bodyPr>
          <a:lstStyle/>
          <a:p>
            <a:r>
              <a:rPr sz="2400" b="1">
                <a:solidFill>
                  <a:srgbClr val="14213D"/>
                </a:solidFill>
                <a:latin typeface="Aptos Display"/>
              </a:rPr>
              <a:t>Background and Study Motivation</a:t>
            </a:r>
          </a:p>
        </p:txBody>
      </p:sp>
      <p:sp>
        <p:nvSpPr>
          <p:cNvPr id="4" name="TextBox 3"/>
          <p:cNvSpPr txBox="1"/>
          <p:nvPr/>
        </p:nvSpPr>
        <p:spPr>
          <a:xfrm>
            <a:off x="530352" y="1024128"/>
            <a:ext cx="7863840" cy="411480"/>
          </a:xfrm>
          <a:prstGeom prst="rect">
            <a:avLst/>
          </a:prstGeom>
          <a:noFill/>
        </p:spPr>
        <p:txBody>
          <a:bodyPr wrap="none">
            <a:spAutoFit/>
          </a:bodyPr>
          <a:lstStyle/>
          <a:p>
            <a:r>
              <a:rPr sz="1150">
                <a:solidFill>
                  <a:srgbClr val="5C6670"/>
                </a:solidFill>
                <a:latin typeface="Aptos"/>
              </a:rPr>
              <a:t>Why event boundaries may matter for memory</a:t>
            </a:r>
          </a:p>
        </p:txBody>
      </p:sp>
      <p:sp>
        <p:nvSpPr>
          <p:cNvPr id="5" name="Rounded Rectangle 4"/>
          <p:cNvSpPr/>
          <p:nvPr/>
        </p:nvSpPr>
        <p:spPr>
          <a:xfrm>
            <a:off x="9829800" y="566928"/>
            <a:ext cx="1737360" cy="384048"/>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336699"/>
                </a:solidFill>
                <a:latin typeface="Aptos"/>
              </a:rPr>
              <a:t>Owner: Sambu</a:t>
            </a:r>
          </a:p>
        </p:txBody>
      </p:sp>
      <p:sp>
        <p:nvSpPr>
          <p:cNvPr id="6" name="TextBox 5"/>
          <p:cNvSpPr txBox="1"/>
          <p:nvPr/>
        </p:nvSpPr>
        <p:spPr>
          <a:xfrm>
            <a:off x="685800" y="1417320"/>
            <a:ext cx="5486400" cy="4389120"/>
          </a:xfrm>
          <a:prstGeom prst="rect">
            <a:avLst/>
          </a:prstGeom>
          <a:noFill/>
        </p:spPr>
        <p:txBody>
          <a:bodyPr wrap="square">
            <a:spAutoFit/>
          </a:bodyPr>
          <a:lstStyle/>
          <a:p>
            <a:pPr>
              <a:spcAft>
                <a:spcPts val="800"/>
              </a:spcAft>
              <a:defRPr sz="1800">
                <a:solidFill>
                  <a:srgbClr val="282828"/>
                </a:solidFill>
                <a:latin typeface="Aptos"/>
              </a:defRPr>
            </a:pPr>
            <a:r>
              <a:t>Event segmentation theory suggests people naturally divide continuous experience into meaningful events.</a:t>
            </a:r>
          </a:p>
          <a:p>
            <a:pPr>
              <a:spcAft>
                <a:spcPts val="800"/>
              </a:spcAft>
              <a:defRPr sz="1800">
                <a:solidFill>
                  <a:srgbClr val="282828"/>
                </a:solidFill>
                <a:latin typeface="Aptos"/>
              </a:defRPr>
            </a:pPr>
            <a:r>
              <a:t>Boundaries may change how information is encoded, updated, and later retrieved from memory.</a:t>
            </a:r>
          </a:p>
          <a:p>
            <a:pPr>
              <a:spcAft>
                <a:spcPts val="800"/>
              </a:spcAft>
              <a:defRPr sz="1800">
                <a:solidFill>
                  <a:srgbClr val="282828"/>
                </a:solidFill>
                <a:latin typeface="Aptos"/>
              </a:defRPr>
            </a:pPr>
            <a:r>
              <a:t>The Mnemonic Similarity Task (MST) is useful because it goes beyond simple recognition and tests fine-grained memory discrimination.</a:t>
            </a:r>
          </a:p>
          <a:p>
            <a:pPr>
              <a:spcAft>
                <a:spcPts val="800"/>
              </a:spcAft>
              <a:defRPr sz="1800">
                <a:solidFill>
                  <a:srgbClr val="282828"/>
                </a:solidFill>
                <a:latin typeface="Aptos"/>
              </a:defRPr>
            </a:pPr>
            <a:r>
              <a:t>The target paper reported two directional effects: weaker post-boundary recognition and stronger pre-boundary lure discrimination.</a:t>
            </a:r>
          </a:p>
        </p:txBody>
      </p:sp>
      <p:sp>
        <p:nvSpPr>
          <p:cNvPr id="7" name="Rounded Rectangle 6"/>
          <p:cNvSpPr/>
          <p:nvPr/>
        </p:nvSpPr>
        <p:spPr>
          <a:xfrm>
            <a:off x="6492240" y="1600200"/>
            <a:ext cx="4892040" cy="356616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56832" y="1709928"/>
            <a:ext cx="4562856" cy="274320"/>
          </a:xfrm>
          <a:prstGeom prst="rect">
            <a:avLst/>
          </a:prstGeom>
          <a:noFill/>
        </p:spPr>
        <p:txBody>
          <a:bodyPr wrap="none">
            <a:spAutoFit/>
          </a:bodyPr>
          <a:lstStyle/>
          <a:p>
            <a:r>
              <a:rPr sz="1300" b="1">
                <a:solidFill>
                  <a:srgbClr val="238488"/>
                </a:solidFill>
                <a:latin typeface="Aptos"/>
              </a:rPr>
              <a:t>Why this study matters</a:t>
            </a:r>
          </a:p>
        </p:txBody>
      </p:sp>
      <p:sp>
        <p:nvSpPr>
          <p:cNvPr id="9" name="TextBox 8"/>
          <p:cNvSpPr txBox="1"/>
          <p:nvPr/>
        </p:nvSpPr>
        <p:spPr>
          <a:xfrm>
            <a:off x="6656832" y="1984248"/>
            <a:ext cx="4562856" cy="3090672"/>
          </a:xfrm>
          <a:prstGeom prst="rect">
            <a:avLst/>
          </a:prstGeom>
          <a:noFill/>
        </p:spPr>
        <p:txBody>
          <a:bodyPr wrap="square">
            <a:spAutoFit/>
          </a:bodyPr>
          <a:lstStyle/>
          <a:p>
            <a:pPr>
              <a:spcAft>
                <a:spcPts val="500"/>
              </a:spcAft>
              <a:defRPr sz="1150">
                <a:solidFill>
                  <a:srgbClr val="282828"/>
                </a:solidFill>
                <a:latin typeface="Aptos"/>
              </a:defRPr>
            </a:pPr>
            <a:r>
              <a:t>Links cognitive theory with behavioral data.</a:t>
            </a:r>
          </a:p>
          <a:p>
            <a:pPr>
              <a:spcAft>
                <a:spcPts val="500"/>
              </a:spcAft>
              <a:defRPr sz="1150">
                <a:solidFill>
                  <a:srgbClr val="282828"/>
                </a:solidFill>
                <a:latin typeface="Aptos"/>
              </a:defRPr>
            </a:pPr>
            <a:r>
              <a:t>Tests whether boundary cues only affect processing speed or also affect memory quality.</a:t>
            </a:r>
          </a:p>
          <a:p>
            <a:pPr>
              <a:spcAft>
                <a:spcPts val="500"/>
              </a:spcAft>
              <a:defRPr sz="1150">
                <a:solidFill>
                  <a:srgbClr val="282828"/>
                </a:solidFill>
                <a:latin typeface="Aptos"/>
              </a:defRPr>
            </a:pPr>
            <a:r>
              <a:t>Checks whether the published pattern replicates in our dataset.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8046720" cy="731520"/>
          </a:xfrm>
          <a:prstGeom prst="rect">
            <a:avLst/>
          </a:prstGeom>
          <a:noFill/>
        </p:spPr>
        <p:txBody>
          <a:bodyPr wrap="none">
            <a:spAutoFit/>
          </a:bodyPr>
          <a:lstStyle/>
          <a:p>
            <a:r>
              <a:rPr sz="2400" b="1">
                <a:solidFill>
                  <a:srgbClr val="14213D"/>
                </a:solidFill>
                <a:latin typeface="Aptos Display"/>
              </a:rPr>
              <a:t>Research Questions and Experimental Context</a:t>
            </a:r>
          </a:p>
        </p:txBody>
      </p:sp>
      <p:sp>
        <p:nvSpPr>
          <p:cNvPr id="4" name="TextBox 3"/>
          <p:cNvSpPr txBox="1"/>
          <p:nvPr/>
        </p:nvSpPr>
        <p:spPr>
          <a:xfrm>
            <a:off x="530352" y="1024128"/>
            <a:ext cx="7863840" cy="411480"/>
          </a:xfrm>
          <a:prstGeom prst="rect">
            <a:avLst/>
          </a:prstGeom>
          <a:noFill/>
        </p:spPr>
        <p:txBody>
          <a:bodyPr wrap="none">
            <a:spAutoFit/>
          </a:bodyPr>
          <a:lstStyle/>
          <a:p>
            <a:r>
              <a:rPr sz="1150">
                <a:solidFill>
                  <a:srgbClr val="5C6670"/>
                </a:solidFill>
                <a:latin typeface="Aptos"/>
              </a:rPr>
              <a:t>How the experiment was structured</a:t>
            </a:r>
          </a:p>
        </p:txBody>
      </p:sp>
      <p:sp>
        <p:nvSpPr>
          <p:cNvPr id="5" name="Rounded Rectangle 4"/>
          <p:cNvSpPr/>
          <p:nvPr/>
        </p:nvSpPr>
        <p:spPr>
          <a:xfrm>
            <a:off x="9829800" y="566928"/>
            <a:ext cx="1737360" cy="384048"/>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336699"/>
                </a:solidFill>
                <a:latin typeface="Aptos"/>
              </a:rPr>
              <a:t>Owner: Sambu</a:t>
            </a:r>
          </a:p>
        </p:txBody>
      </p:sp>
      <p:sp>
        <p:nvSpPr>
          <p:cNvPr id="6" name="TextBox 5"/>
          <p:cNvSpPr txBox="1"/>
          <p:nvPr/>
        </p:nvSpPr>
        <p:spPr>
          <a:xfrm>
            <a:off x="685800" y="1417320"/>
            <a:ext cx="5394960" cy="2926080"/>
          </a:xfrm>
          <a:prstGeom prst="rect">
            <a:avLst/>
          </a:prstGeom>
          <a:noFill/>
        </p:spPr>
        <p:txBody>
          <a:bodyPr wrap="square">
            <a:spAutoFit/>
          </a:bodyPr>
          <a:lstStyle/>
          <a:p>
            <a:pPr>
              <a:spcAft>
                <a:spcPts val="800"/>
              </a:spcAft>
              <a:defRPr sz="1800">
                <a:solidFill>
                  <a:srgbClr val="282828"/>
                </a:solidFill>
                <a:latin typeface="Aptos"/>
              </a:defRPr>
            </a:pPr>
            <a:r>
              <a:t>RQ1: Do event boundaries slow encoding response time?</a:t>
            </a:r>
          </a:p>
          <a:p>
            <a:pPr>
              <a:spcAft>
                <a:spcPts val="800"/>
              </a:spcAft>
              <a:defRPr sz="1800">
                <a:solidFill>
                  <a:srgbClr val="282828"/>
                </a:solidFill>
                <a:latin typeface="Aptos"/>
              </a:defRPr>
            </a:pPr>
            <a:r>
              <a:t>RQ2: Is recognition memory weaker for post-boundary items?</a:t>
            </a:r>
          </a:p>
          <a:p>
            <a:pPr>
              <a:spcAft>
                <a:spcPts val="800"/>
              </a:spcAft>
              <a:defRPr sz="1800">
                <a:solidFill>
                  <a:srgbClr val="282828"/>
                </a:solidFill>
                <a:latin typeface="Aptos"/>
              </a:defRPr>
            </a:pPr>
            <a:r>
              <a:t>RQ3: Do pre-boundary items show better lure discrimination?</a:t>
            </a:r>
          </a:p>
          <a:p>
            <a:pPr>
              <a:spcAft>
                <a:spcPts val="800"/>
              </a:spcAft>
              <a:defRPr sz="1800">
                <a:solidFill>
                  <a:srgbClr val="282828"/>
                </a:solidFill>
                <a:latin typeface="Aptos"/>
              </a:defRPr>
            </a:pPr>
            <a:r>
              <a:t>RQ4: Do these patterns differ across the three boundary manipulations?</a:t>
            </a:r>
          </a:p>
          <a:p>
            <a:pPr>
              <a:spcAft>
                <a:spcPts val="800"/>
              </a:spcAft>
              <a:defRPr sz="1800">
                <a:solidFill>
                  <a:srgbClr val="282828"/>
                </a:solidFill>
                <a:latin typeface="Aptos"/>
              </a:defRPr>
            </a:pPr>
            <a:r>
              <a:t>RQ5: Do lure bins show the expected MST trend as lures become less similar?</a:t>
            </a:r>
          </a:p>
        </p:txBody>
      </p:sp>
      <p:sp>
        <p:nvSpPr>
          <p:cNvPr id="7" name="Rounded Rectangle 6"/>
          <p:cNvSpPr/>
          <p:nvPr/>
        </p:nvSpPr>
        <p:spPr>
          <a:xfrm>
            <a:off x="6355080" y="1417320"/>
            <a:ext cx="5074920" cy="132588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19672" y="1527048"/>
            <a:ext cx="4745736" cy="274320"/>
          </a:xfrm>
          <a:prstGeom prst="rect">
            <a:avLst/>
          </a:prstGeom>
          <a:noFill/>
        </p:spPr>
        <p:txBody>
          <a:bodyPr wrap="none">
            <a:spAutoFit/>
          </a:bodyPr>
          <a:lstStyle/>
          <a:p>
            <a:r>
              <a:rPr sz="1300" b="1">
                <a:solidFill>
                  <a:srgbClr val="336699"/>
                </a:solidFill>
                <a:latin typeface="Aptos"/>
              </a:rPr>
              <a:t>Three task conditions</a:t>
            </a:r>
          </a:p>
        </p:txBody>
      </p:sp>
      <p:sp>
        <p:nvSpPr>
          <p:cNvPr id="9" name="TextBox 8"/>
          <p:cNvSpPr txBox="1"/>
          <p:nvPr/>
        </p:nvSpPr>
        <p:spPr>
          <a:xfrm>
            <a:off x="6519672" y="1801368"/>
            <a:ext cx="4745736" cy="850392"/>
          </a:xfrm>
          <a:prstGeom prst="rect">
            <a:avLst/>
          </a:prstGeom>
          <a:noFill/>
        </p:spPr>
        <p:txBody>
          <a:bodyPr wrap="square">
            <a:spAutoFit/>
          </a:bodyPr>
          <a:lstStyle/>
          <a:p>
            <a:pPr>
              <a:spcAft>
                <a:spcPts val="500"/>
              </a:spcAft>
              <a:defRPr sz="1150">
                <a:solidFill>
                  <a:srgbClr val="282828"/>
                </a:solidFill>
                <a:latin typeface="Aptos"/>
              </a:defRPr>
            </a:pPr>
            <a:r>
              <a:t>Item Shift Only (`item_only`)</a:t>
            </a:r>
          </a:p>
          <a:p>
            <a:pPr>
              <a:spcAft>
                <a:spcPts val="500"/>
              </a:spcAft>
              <a:defRPr sz="1150">
                <a:solidFill>
                  <a:srgbClr val="282828"/>
                </a:solidFill>
                <a:latin typeface="Aptos"/>
              </a:defRPr>
            </a:pPr>
            <a:r>
              <a:t>Item + Task Shift (`both`)</a:t>
            </a:r>
          </a:p>
          <a:p>
            <a:pPr>
              <a:spcAft>
                <a:spcPts val="500"/>
              </a:spcAft>
              <a:defRPr sz="1150">
                <a:solidFill>
                  <a:srgbClr val="282828"/>
                </a:solidFill>
                <a:latin typeface="Aptos"/>
              </a:defRPr>
            </a:pPr>
            <a:r>
              <a:t>Task Shift Only (`task_only`)</a:t>
            </a:r>
          </a:p>
        </p:txBody>
      </p:sp>
      <p:sp>
        <p:nvSpPr>
          <p:cNvPr id="10" name="Rounded Rectangle 9"/>
          <p:cNvSpPr/>
          <p:nvPr/>
        </p:nvSpPr>
        <p:spPr>
          <a:xfrm>
            <a:off x="6355080" y="2880360"/>
            <a:ext cx="5074920" cy="196596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2990088"/>
            <a:ext cx="4745736" cy="274320"/>
          </a:xfrm>
          <a:prstGeom prst="rect">
            <a:avLst/>
          </a:prstGeom>
          <a:noFill/>
        </p:spPr>
        <p:txBody>
          <a:bodyPr wrap="none">
            <a:spAutoFit/>
          </a:bodyPr>
          <a:lstStyle/>
          <a:p>
            <a:r>
              <a:rPr sz="1300" b="1">
                <a:solidFill>
                  <a:srgbClr val="CB6C37"/>
                </a:solidFill>
                <a:latin typeface="Aptos"/>
              </a:rPr>
              <a:t>Boundary positions inside each 7-item event</a:t>
            </a:r>
          </a:p>
        </p:txBody>
      </p:sp>
      <p:sp>
        <p:nvSpPr>
          <p:cNvPr id="12" name="TextBox 11"/>
          <p:cNvSpPr txBox="1"/>
          <p:nvPr/>
        </p:nvSpPr>
        <p:spPr>
          <a:xfrm>
            <a:off x="6519672" y="3264408"/>
            <a:ext cx="4745736" cy="1490472"/>
          </a:xfrm>
          <a:prstGeom prst="rect">
            <a:avLst/>
          </a:prstGeom>
          <a:noFill/>
        </p:spPr>
        <p:txBody>
          <a:bodyPr wrap="square">
            <a:spAutoFit/>
          </a:bodyPr>
          <a:lstStyle/>
          <a:p>
            <a:pPr>
              <a:spcAft>
                <a:spcPts val="500"/>
              </a:spcAft>
              <a:defRPr sz="1150">
                <a:solidFill>
                  <a:srgbClr val="282828"/>
                </a:solidFill>
                <a:latin typeface="Aptos"/>
              </a:defRPr>
            </a:pPr>
            <a:r>
              <a:t>`post`: first item after a boundary</a:t>
            </a:r>
          </a:p>
          <a:p>
            <a:pPr>
              <a:spcAft>
                <a:spcPts val="500"/>
              </a:spcAft>
              <a:defRPr sz="1150">
                <a:solidFill>
                  <a:srgbClr val="282828"/>
                </a:solidFill>
                <a:latin typeface="Aptos"/>
              </a:defRPr>
            </a:pPr>
            <a:r>
              <a:t>`mid`: five middle items</a:t>
            </a:r>
          </a:p>
          <a:p>
            <a:pPr>
              <a:spcAft>
                <a:spcPts val="500"/>
              </a:spcAft>
              <a:defRPr sz="1150">
                <a:solidFill>
                  <a:srgbClr val="282828"/>
                </a:solidFill>
                <a:latin typeface="Aptos"/>
              </a:defRPr>
            </a:pPr>
            <a:r>
              <a:t>`pre`: last item before the next boundary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8046720" cy="731520"/>
          </a:xfrm>
          <a:prstGeom prst="rect">
            <a:avLst/>
          </a:prstGeom>
          <a:noFill/>
        </p:spPr>
        <p:txBody>
          <a:bodyPr wrap="none">
            <a:spAutoFit/>
          </a:bodyPr>
          <a:lstStyle/>
          <a:p>
            <a:r>
              <a:rPr sz="2400" b="1">
                <a:solidFill>
                  <a:srgbClr val="14213D"/>
                </a:solidFill>
                <a:latin typeface="Aptos Display"/>
              </a:rPr>
              <a:t>Dataset and Conditions</a:t>
            </a:r>
          </a:p>
        </p:txBody>
      </p:sp>
      <p:sp>
        <p:nvSpPr>
          <p:cNvPr id="4" name="TextBox 3"/>
          <p:cNvSpPr txBox="1"/>
          <p:nvPr/>
        </p:nvSpPr>
        <p:spPr>
          <a:xfrm>
            <a:off x="530352" y="1024128"/>
            <a:ext cx="7863840" cy="411480"/>
          </a:xfrm>
          <a:prstGeom prst="rect">
            <a:avLst/>
          </a:prstGeom>
          <a:noFill/>
        </p:spPr>
        <p:txBody>
          <a:bodyPr wrap="none">
            <a:spAutoFit/>
          </a:bodyPr>
          <a:lstStyle/>
          <a:p>
            <a:r>
              <a:rPr sz="1150">
                <a:solidFill>
                  <a:srgbClr val="5C6670"/>
                </a:solidFill>
                <a:latin typeface="Aptos"/>
              </a:rPr>
              <a:t>Cleaned participant sample and task structure</a:t>
            </a:r>
          </a:p>
        </p:txBody>
      </p:sp>
      <p:sp>
        <p:nvSpPr>
          <p:cNvPr id="5" name="Rounded Rectangle 4"/>
          <p:cNvSpPr/>
          <p:nvPr/>
        </p:nvSpPr>
        <p:spPr>
          <a:xfrm>
            <a:off x="9829800" y="566928"/>
            <a:ext cx="1737360" cy="384048"/>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336699"/>
                </a:solidFill>
                <a:latin typeface="Aptos"/>
              </a:rPr>
              <a:t>Owner: Sambu</a:t>
            </a:r>
          </a:p>
        </p:txBody>
      </p:sp>
      <p:sp>
        <p:nvSpPr>
          <p:cNvPr id="6" name="Rounded Rectangle 5"/>
          <p:cNvSpPr/>
          <p:nvPr/>
        </p:nvSpPr>
        <p:spPr>
          <a:xfrm>
            <a:off x="777240" y="1463040"/>
            <a:ext cx="3520440" cy="137160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1572768"/>
            <a:ext cx="3191256" cy="274320"/>
          </a:xfrm>
          <a:prstGeom prst="rect">
            <a:avLst/>
          </a:prstGeom>
          <a:noFill/>
        </p:spPr>
        <p:txBody>
          <a:bodyPr wrap="none">
            <a:spAutoFit/>
          </a:bodyPr>
          <a:lstStyle/>
          <a:p>
            <a:r>
              <a:rPr sz="1300" b="1">
                <a:solidFill>
                  <a:srgbClr val="336699"/>
                </a:solidFill>
                <a:latin typeface="Aptos"/>
              </a:rPr>
              <a:t>Item Shift Only</a:t>
            </a:r>
          </a:p>
        </p:txBody>
      </p:sp>
      <p:sp>
        <p:nvSpPr>
          <p:cNvPr id="8" name="TextBox 7"/>
          <p:cNvSpPr txBox="1"/>
          <p:nvPr/>
        </p:nvSpPr>
        <p:spPr>
          <a:xfrm>
            <a:off x="941832" y="1847088"/>
            <a:ext cx="3191256" cy="896112"/>
          </a:xfrm>
          <a:prstGeom prst="rect">
            <a:avLst/>
          </a:prstGeom>
          <a:noFill/>
        </p:spPr>
        <p:txBody>
          <a:bodyPr wrap="square">
            <a:spAutoFit/>
          </a:bodyPr>
          <a:lstStyle/>
          <a:p>
            <a:pPr>
              <a:spcAft>
                <a:spcPts val="500"/>
              </a:spcAft>
              <a:defRPr sz="1150">
                <a:solidFill>
                  <a:srgbClr val="282828"/>
                </a:solidFill>
                <a:latin typeface="Aptos"/>
              </a:defRPr>
            </a:pPr>
            <a:r>
              <a:t>Paired participants: 56</a:t>
            </a:r>
          </a:p>
          <a:p>
            <a:pPr>
              <a:spcAft>
                <a:spcPts val="500"/>
              </a:spcAft>
              <a:defRPr sz="1150">
                <a:solidFill>
                  <a:srgbClr val="282828"/>
                </a:solidFill>
                <a:latin typeface="Aptos"/>
              </a:defRPr>
            </a:pPr>
            <a:r>
              <a:t>Encoding trials per participant: 280</a:t>
            </a:r>
          </a:p>
          <a:p>
            <a:pPr>
              <a:spcAft>
                <a:spcPts val="500"/>
              </a:spcAft>
              <a:defRPr sz="1150">
                <a:solidFill>
                  <a:srgbClr val="282828"/>
                </a:solidFill>
                <a:latin typeface="Aptos"/>
              </a:defRPr>
            </a:pPr>
            <a:r>
              <a:t>Test trials per participant: 150</a:t>
            </a:r>
          </a:p>
        </p:txBody>
      </p:sp>
      <p:sp>
        <p:nvSpPr>
          <p:cNvPr id="9" name="Rounded Rectangle 8"/>
          <p:cNvSpPr/>
          <p:nvPr/>
        </p:nvSpPr>
        <p:spPr>
          <a:xfrm>
            <a:off x="4343400" y="1463040"/>
            <a:ext cx="3520440" cy="137160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1572768"/>
            <a:ext cx="3191256" cy="274320"/>
          </a:xfrm>
          <a:prstGeom prst="rect">
            <a:avLst/>
          </a:prstGeom>
          <a:noFill/>
        </p:spPr>
        <p:txBody>
          <a:bodyPr wrap="none">
            <a:spAutoFit/>
          </a:bodyPr>
          <a:lstStyle/>
          <a:p>
            <a:r>
              <a:rPr sz="1300" b="1">
                <a:solidFill>
                  <a:srgbClr val="238488"/>
                </a:solidFill>
                <a:latin typeface="Aptos"/>
              </a:rPr>
              <a:t>Item + Task Shift</a:t>
            </a:r>
          </a:p>
        </p:txBody>
      </p:sp>
      <p:sp>
        <p:nvSpPr>
          <p:cNvPr id="11" name="TextBox 10"/>
          <p:cNvSpPr txBox="1"/>
          <p:nvPr/>
        </p:nvSpPr>
        <p:spPr>
          <a:xfrm>
            <a:off x="4507992" y="1847088"/>
            <a:ext cx="3191256" cy="896112"/>
          </a:xfrm>
          <a:prstGeom prst="rect">
            <a:avLst/>
          </a:prstGeom>
          <a:noFill/>
        </p:spPr>
        <p:txBody>
          <a:bodyPr wrap="square">
            <a:spAutoFit/>
          </a:bodyPr>
          <a:lstStyle/>
          <a:p>
            <a:pPr>
              <a:spcAft>
                <a:spcPts val="500"/>
              </a:spcAft>
              <a:defRPr sz="1150">
                <a:solidFill>
                  <a:srgbClr val="282828"/>
                </a:solidFill>
                <a:latin typeface="Aptos"/>
              </a:defRPr>
            </a:pPr>
            <a:r>
              <a:t>Paired participants: 49</a:t>
            </a:r>
          </a:p>
          <a:p>
            <a:pPr>
              <a:spcAft>
                <a:spcPts val="500"/>
              </a:spcAft>
              <a:defRPr sz="1150">
                <a:solidFill>
                  <a:srgbClr val="282828"/>
                </a:solidFill>
                <a:latin typeface="Aptos"/>
              </a:defRPr>
            </a:pPr>
            <a:r>
              <a:t>Encoding trials per participant: 280</a:t>
            </a:r>
          </a:p>
          <a:p>
            <a:pPr>
              <a:spcAft>
                <a:spcPts val="500"/>
              </a:spcAft>
              <a:defRPr sz="1150">
                <a:solidFill>
                  <a:srgbClr val="282828"/>
                </a:solidFill>
                <a:latin typeface="Aptos"/>
              </a:defRPr>
            </a:pPr>
            <a:r>
              <a:t>Test trials per participant: 150</a:t>
            </a:r>
          </a:p>
        </p:txBody>
      </p:sp>
      <p:sp>
        <p:nvSpPr>
          <p:cNvPr id="12" name="Rounded Rectangle 11"/>
          <p:cNvSpPr/>
          <p:nvPr/>
        </p:nvSpPr>
        <p:spPr>
          <a:xfrm>
            <a:off x="7909560" y="1463040"/>
            <a:ext cx="3520440" cy="137160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74152" y="1572768"/>
            <a:ext cx="3191256" cy="274320"/>
          </a:xfrm>
          <a:prstGeom prst="rect">
            <a:avLst/>
          </a:prstGeom>
          <a:noFill/>
        </p:spPr>
        <p:txBody>
          <a:bodyPr wrap="none">
            <a:spAutoFit/>
          </a:bodyPr>
          <a:lstStyle/>
          <a:p>
            <a:r>
              <a:rPr sz="1300" b="1">
                <a:solidFill>
                  <a:srgbClr val="CB6C37"/>
                </a:solidFill>
                <a:latin typeface="Aptos"/>
              </a:rPr>
              <a:t>Task Shift Only</a:t>
            </a:r>
          </a:p>
        </p:txBody>
      </p:sp>
      <p:sp>
        <p:nvSpPr>
          <p:cNvPr id="14" name="TextBox 13"/>
          <p:cNvSpPr txBox="1"/>
          <p:nvPr/>
        </p:nvSpPr>
        <p:spPr>
          <a:xfrm>
            <a:off x="8074152" y="1847088"/>
            <a:ext cx="3191256" cy="896112"/>
          </a:xfrm>
          <a:prstGeom prst="rect">
            <a:avLst/>
          </a:prstGeom>
          <a:noFill/>
        </p:spPr>
        <p:txBody>
          <a:bodyPr wrap="square">
            <a:spAutoFit/>
          </a:bodyPr>
          <a:lstStyle/>
          <a:p>
            <a:pPr>
              <a:spcAft>
                <a:spcPts val="500"/>
              </a:spcAft>
              <a:defRPr sz="1150">
                <a:solidFill>
                  <a:srgbClr val="282828"/>
                </a:solidFill>
                <a:latin typeface="Aptos"/>
              </a:defRPr>
            </a:pPr>
            <a:r>
              <a:t>Paired participants: 53</a:t>
            </a:r>
          </a:p>
          <a:p>
            <a:pPr>
              <a:spcAft>
                <a:spcPts val="500"/>
              </a:spcAft>
              <a:defRPr sz="1150">
                <a:solidFill>
                  <a:srgbClr val="282828"/>
                </a:solidFill>
                <a:latin typeface="Aptos"/>
              </a:defRPr>
            </a:pPr>
            <a:r>
              <a:t>Encoding trials per participant: 280</a:t>
            </a:r>
          </a:p>
          <a:p>
            <a:pPr>
              <a:spcAft>
                <a:spcPts val="500"/>
              </a:spcAft>
              <a:defRPr sz="1150">
                <a:solidFill>
                  <a:srgbClr val="282828"/>
                </a:solidFill>
                <a:latin typeface="Aptos"/>
              </a:defRPr>
            </a:pPr>
            <a:r>
              <a:t>Test trials per participant: 150</a:t>
            </a:r>
          </a:p>
        </p:txBody>
      </p:sp>
      <p:pic>
        <p:nvPicPr>
          <p:cNvPr id="15" name="Picture 14" descr="phase1_dataset_overview.png"/>
          <p:cNvPicPr>
            <a:picLocks noChangeAspect="1"/>
          </p:cNvPicPr>
          <p:nvPr/>
        </p:nvPicPr>
        <p:blipFill>
          <a:blip r:embed="rId2"/>
          <a:stretch>
            <a:fillRect/>
          </a:stretch>
        </p:blipFill>
        <p:spPr>
          <a:xfrm>
            <a:off x="1059607" y="3063240"/>
            <a:ext cx="5836064" cy="3154680"/>
          </a:xfrm>
          <a:prstGeom prst="rect">
            <a:avLst/>
          </a:prstGeom>
        </p:spPr>
      </p:pic>
      <p:sp>
        <p:nvSpPr>
          <p:cNvPr id="16" name="TextBox 15"/>
          <p:cNvSpPr txBox="1"/>
          <p:nvPr/>
        </p:nvSpPr>
        <p:spPr>
          <a:xfrm>
            <a:off x="7498079" y="3337560"/>
            <a:ext cx="3840480" cy="1920240"/>
          </a:xfrm>
          <a:prstGeom prst="rect">
            <a:avLst/>
          </a:prstGeom>
          <a:noFill/>
        </p:spPr>
        <p:txBody>
          <a:bodyPr wrap="square">
            <a:spAutoFit/>
          </a:bodyPr>
          <a:lstStyle/>
          <a:p>
            <a:pPr>
              <a:spcAft>
                <a:spcPts val="800"/>
              </a:spcAft>
              <a:defRPr sz="1600">
                <a:solidFill>
                  <a:srgbClr val="282828"/>
                </a:solidFill>
                <a:latin typeface="Aptos"/>
              </a:defRPr>
            </a:pPr>
            <a:r>
              <a:t>Only complete task-test pairs were retained for analysis.</a:t>
            </a:r>
          </a:p>
          <a:p>
            <a:pPr>
              <a:spcAft>
                <a:spcPts val="800"/>
              </a:spcAft>
              <a:defRPr sz="1600">
                <a:solidFill>
                  <a:srgbClr val="282828"/>
                </a:solidFill>
                <a:latin typeface="Aptos"/>
              </a:defRPr>
            </a:pPr>
            <a:r>
              <a:t>Participants with missing task or test files were excluded.</a:t>
            </a:r>
          </a:p>
          <a:p>
            <a:pPr>
              <a:spcAft>
                <a:spcPts val="800"/>
              </a:spcAft>
              <a:defRPr sz="1600">
                <a:solidFill>
                  <a:srgbClr val="282828"/>
                </a:solidFill>
                <a:latin typeface="Aptos"/>
              </a:defRPr>
            </a:pPr>
            <a:r>
              <a:t>The paired sample sizes are balanced enough for condition-wise repeated-measures analysis.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8046720" cy="731520"/>
          </a:xfrm>
          <a:prstGeom prst="rect">
            <a:avLst/>
          </a:prstGeom>
          <a:noFill/>
        </p:spPr>
        <p:txBody>
          <a:bodyPr wrap="none">
            <a:spAutoFit/>
          </a:bodyPr>
          <a:lstStyle/>
          <a:p>
            <a:r>
              <a:rPr sz="2400" b="1">
                <a:solidFill>
                  <a:srgbClr val="14213D"/>
                </a:solidFill>
                <a:latin typeface="Aptos Display"/>
              </a:rPr>
              <a:t>Data Preparation and Preprocessing</a:t>
            </a:r>
          </a:p>
        </p:txBody>
      </p:sp>
      <p:sp>
        <p:nvSpPr>
          <p:cNvPr id="4" name="TextBox 3"/>
          <p:cNvSpPr txBox="1"/>
          <p:nvPr/>
        </p:nvSpPr>
        <p:spPr>
          <a:xfrm>
            <a:off x="530352" y="1024128"/>
            <a:ext cx="7863840" cy="411480"/>
          </a:xfrm>
          <a:prstGeom prst="rect">
            <a:avLst/>
          </a:prstGeom>
          <a:noFill/>
        </p:spPr>
        <p:txBody>
          <a:bodyPr wrap="none">
            <a:spAutoFit/>
          </a:bodyPr>
          <a:lstStyle/>
          <a:p>
            <a:r>
              <a:rPr sz="1150">
                <a:solidFill>
                  <a:srgbClr val="5C6670"/>
                </a:solidFill>
                <a:latin typeface="Aptos"/>
              </a:rPr>
              <a:t>How raw task and test files became analysis-ready data</a:t>
            </a:r>
          </a:p>
        </p:txBody>
      </p:sp>
      <p:sp>
        <p:nvSpPr>
          <p:cNvPr id="5" name="Rounded Rectangle 4"/>
          <p:cNvSpPr/>
          <p:nvPr/>
        </p:nvSpPr>
        <p:spPr>
          <a:xfrm>
            <a:off x="9829800" y="566928"/>
            <a:ext cx="1737360" cy="384048"/>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336699"/>
                </a:solidFill>
                <a:latin typeface="Aptos"/>
              </a:rPr>
              <a:t>Owner: Pavan</a:t>
            </a:r>
          </a:p>
        </p:txBody>
      </p:sp>
      <p:sp>
        <p:nvSpPr>
          <p:cNvPr id="6" name="Rounded Rectangle 5"/>
          <p:cNvSpPr/>
          <p:nvPr/>
        </p:nvSpPr>
        <p:spPr>
          <a:xfrm>
            <a:off x="548640" y="1828800"/>
            <a:ext cx="2148840" cy="2148840"/>
          </a:xfrm>
          <a:prstGeom prst="roundRect">
            <a:avLst/>
          </a:prstGeom>
          <a:solidFill>
            <a:srgbClr val="FFFFFF"/>
          </a:solidFill>
          <a:ln w="20320">
            <a:solidFill>
              <a:srgbClr val="33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938528"/>
            <a:ext cx="1874520" cy="274320"/>
          </a:xfrm>
          <a:prstGeom prst="rect">
            <a:avLst/>
          </a:prstGeom>
          <a:noFill/>
        </p:spPr>
        <p:txBody>
          <a:bodyPr wrap="none">
            <a:spAutoFit/>
          </a:bodyPr>
          <a:lstStyle/>
          <a:p>
            <a:r>
              <a:rPr sz="1300" b="1">
                <a:solidFill>
                  <a:srgbClr val="336699"/>
                </a:solidFill>
                <a:latin typeface="Aptos"/>
              </a:rPr>
              <a:t>Raw Input</a:t>
            </a:r>
          </a:p>
        </p:txBody>
      </p:sp>
      <p:sp>
        <p:nvSpPr>
          <p:cNvPr id="8" name="TextBox 7"/>
          <p:cNvSpPr txBox="1"/>
          <p:nvPr/>
        </p:nvSpPr>
        <p:spPr>
          <a:xfrm>
            <a:off x="694944" y="2240280"/>
            <a:ext cx="1874520" cy="1618488"/>
          </a:xfrm>
          <a:prstGeom prst="rect">
            <a:avLst/>
          </a:prstGeom>
          <a:noFill/>
        </p:spPr>
        <p:txBody>
          <a:bodyPr wrap="square">
            <a:spAutoFit/>
          </a:bodyPr>
          <a:lstStyle/>
          <a:p>
            <a:pPr>
              <a:spcAft>
                <a:spcPts val="400"/>
              </a:spcAft>
              <a:defRPr sz="1120">
                <a:solidFill>
                  <a:srgbClr val="282828"/>
                </a:solidFill>
                <a:latin typeface="Aptos"/>
              </a:defRPr>
            </a:pPr>
            <a:r>
              <a:t>Read raw CSV files from all three MST condition folders.</a:t>
            </a:r>
          </a:p>
          <a:p>
            <a:pPr>
              <a:spcAft>
                <a:spcPts val="400"/>
              </a:spcAft>
              <a:defRPr sz="1120">
                <a:solidFill>
                  <a:srgbClr val="282828"/>
                </a:solidFill>
                <a:latin typeface="Aptos"/>
              </a:defRPr>
            </a:pPr>
            <a:r>
              <a:t>Matched task and test files participant by participant.</a:t>
            </a:r>
          </a:p>
        </p:txBody>
      </p:sp>
      <p:sp>
        <p:nvSpPr>
          <p:cNvPr id="9" name="Rounded Rectangle 8"/>
          <p:cNvSpPr/>
          <p:nvPr/>
        </p:nvSpPr>
        <p:spPr>
          <a:xfrm>
            <a:off x="3063240" y="1828800"/>
            <a:ext cx="2148840" cy="2148840"/>
          </a:xfrm>
          <a:prstGeom prst="roundRect">
            <a:avLst/>
          </a:prstGeom>
          <a:solidFill>
            <a:srgbClr val="FFFFFF"/>
          </a:solidFill>
          <a:ln w="20320">
            <a:solidFill>
              <a:srgbClr val="238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9544" y="1938528"/>
            <a:ext cx="1874520" cy="274320"/>
          </a:xfrm>
          <a:prstGeom prst="rect">
            <a:avLst/>
          </a:prstGeom>
          <a:noFill/>
        </p:spPr>
        <p:txBody>
          <a:bodyPr wrap="none">
            <a:spAutoFit/>
          </a:bodyPr>
          <a:lstStyle/>
          <a:p>
            <a:r>
              <a:rPr sz="1300" b="1">
                <a:solidFill>
                  <a:srgbClr val="238488"/>
                </a:solidFill>
                <a:latin typeface="Aptos"/>
              </a:rPr>
              <a:t>File Pairing</a:t>
            </a:r>
          </a:p>
        </p:txBody>
      </p:sp>
      <p:sp>
        <p:nvSpPr>
          <p:cNvPr id="11" name="TextBox 10"/>
          <p:cNvSpPr txBox="1"/>
          <p:nvPr/>
        </p:nvSpPr>
        <p:spPr>
          <a:xfrm>
            <a:off x="3209544" y="2240280"/>
            <a:ext cx="1874520" cy="1618488"/>
          </a:xfrm>
          <a:prstGeom prst="rect">
            <a:avLst/>
          </a:prstGeom>
          <a:noFill/>
        </p:spPr>
        <p:txBody>
          <a:bodyPr wrap="square">
            <a:spAutoFit/>
          </a:bodyPr>
          <a:lstStyle/>
          <a:p>
            <a:pPr>
              <a:spcAft>
                <a:spcPts val="400"/>
              </a:spcAft>
              <a:defRPr sz="1120">
                <a:solidFill>
                  <a:srgbClr val="282828"/>
                </a:solidFill>
                <a:latin typeface="Aptos"/>
              </a:defRPr>
            </a:pPr>
            <a:r>
              <a:t>Used clean pairs directly.</a:t>
            </a:r>
          </a:p>
          <a:p>
            <a:pPr>
              <a:spcAft>
                <a:spcPts val="400"/>
              </a:spcAft>
              <a:defRPr sz="1120">
                <a:solidFill>
                  <a:srgbClr val="282828"/>
                </a:solidFill>
                <a:latin typeface="Aptos"/>
              </a:defRPr>
            </a:pPr>
            <a:r>
              <a:t>For duplicates, paired the latest test file with the previous task file.</a:t>
            </a:r>
          </a:p>
        </p:txBody>
      </p:sp>
      <p:sp>
        <p:nvSpPr>
          <p:cNvPr id="12" name="Rounded Rectangle 11"/>
          <p:cNvSpPr/>
          <p:nvPr/>
        </p:nvSpPr>
        <p:spPr>
          <a:xfrm>
            <a:off x="5577840" y="1828800"/>
            <a:ext cx="2148840" cy="2148840"/>
          </a:xfrm>
          <a:prstGeom prst="roundRect">
            <a:avLst/>
          </a:prstGeom>
          <a:solidFill>
            <a:srgbClr val="FFFFFF"/>
          </a:solidFill>
          <a:ln w="20320">
            <a:solidFill>
              <a:srgbClr val="CB6C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24144" y="1938528"/>
            <a:ext cx="1874520" cy="274320"/>
          </a:xfrm>
          <a:prstGeom prst="rect">
            <a:avLst/>
          </a:prstGeom>
          <a:noFill/>
        </p:spPr>
        <p:txBody>
          <a:bodyPr wrap="none">
            <a:spAutoFit/>
          </a:bodyPr>
          <a:lstStyle/>
          <a:p>
            <a:r>
              <a:rPr sz="1300" b="1">
                <a:solidFill>
                  <a:srgbClr val="CB6C37"/>
                </a:solidFill>
                <a:latin typeface="Aptos"/>
              </a:rPr>
              <a:t>Exclusions</a:t>
            </a:r>
          </a:p>
        </p:txBody>
      </p:sp>
      <p:sp>
        <p:nvSpPr>
          <p:cNvPr id="14" name="TextBox 13"/>
          <p:cNvSpPr txBox="1"/>
          <p:nvPr/>
        </p:nvSpPr>
        <p:spPr>
          <a:xfrm>
            <a:off x="5724144" y="2240280"/>
            <a:ext cx="1874520" cy="1618488"/>
          </a:xfrm>
          <a:prstGeom prst="rect">
            <a:avLst/>
          </a:prstGeom>
          <a:noFill/>
        </p:spPr>
        <p:txBody>
          <a:bodyPr wrap="square">
            <a:spAutoFit/>
          </a:bodyPr>
          <a:lstStyle/>
          <a:p>
            <a:pPr>
              <a:spcAft>
                <a:spcPts val="400"/>
              </a:spcAft>
              <a:defRPr sz="1120">
                <a:solidFill>
                  <a:srgbClr val="282828"/>
                </a:solidFill>
                <a:latin typeface="Aptos"/>
              </a:defRPr>
            </a:pPr>
            <a:r>
              <a:t>Dropped incomplete sessions with only task or only test data.</a:t>
            </a:r>
          </a:p>
          <a:p>
            <a:pPr>
              <a:spcAft>
                <a:spcPts val="400"/>
              </a:spcAft>
              <a:defRPr sz="1120">
                <a:solidFill>
                  <a:srgbClr val="282828"/>
                </a:solidFill>
                <a:latin typeface="Aptos"/>
              </a:defRPr>
            </a:pPr>
            <a:r>
              <a:t>Kept participants as the analytical unit.</a:t>
            </a:r>
          </a:p>
        </p:txBody>
      </p:sp>
      <p:sp>
        <p:nvSpPr>
          <p:cNvPr id="15" name="Rounded Rectangle 14"/>
          <p:cNvSpPr/>
          <p:nvPr/>
        </p:nvSpPr>
        <p:spPr>
          <a:xfrm>
            <a:off x="8092440" y="1828800"/>
            <a:ext cx="2148840" cy="2148840"/>
          </a:xfrm>
          <a:prstGeom prst="roundRect">
            <a:avLst/>
          </a:prstGeom>
          <a:solidFill>
            <a:srgbClr val="FFFFFF"/>
          </a:solidFill>
          <a:ln w="20320">
            <a:solidFill>
              <a:srgbClr val="33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1938528"/>
            <a:ext cx="1874520" cy="274320"/>
          </a:xfrm>
          <a:prstGeom prst="rect">
            <a:avLst/>
          </a:prstGeom>
          <a:noFill/>
        </p:spPr>
        <p:txBody>
          <a:bodyPr wrap="none">
            <a:spAutoFit/>
          </a:bodyPr>
          <a:lstStyle/>
          <a:p>
            <a:r>
              <a:rPr sz="1300" b="1">
                <a:solidFill>
                  <a:srgbClr val="336699"/>
                </a:solidFill>
                <a:latin typeface="Aptos"/>
              </a:rPr>
              <a:t>Encoding Setup</a:t>
            </a:r>
          </a:p>
        </p:txBody>
      </p:sp>
      <p:sp>
        <p:nvSpPr>
          <p:cNvPr id="17" name="TextBox 16"/>
          <p:cNvSpPr txBox="1"/>
          <p:nvPr/>
        </p:nvSpPr>
        <p:spPr>
          <a:xfrm>
            <a:off x="8238744" y="2240280"/>
            <a:ext cx="1874520" cy="1618488"/>
          </a:xfrm>
          <a:prstGeom prst="rect">
            <a:avLst/>
          </a:prstGeom>
          <a:noFill/>
        </p:spPr>
        <p:txBody>
          <a:bodyPr wrap="square">
            <a:spAutoFit/>
          </a:bodyPr>
          <a:lstStyle/>
          <a:p>
            <a:pPr>
              <a:spcAft>
                <a:spcPts val="400"/>
              </a:spcAft>
              <a:defRPr sz="1120">
                <a:solidFill>
                  <a:srgbClr val="282828"/>
                </a:solidFill>
                <a:latin typeface="Aptos"/>
              </a:defRPr>
            </a:pPr>
            <a:r>
              <a:t>Retained 280 non-practice encoding trials.</a:t>
            </a:r>
          </a:p>
          <a:p>
            <a:pPr>
              <a:spcAft>
                <a:spcPts val="400"/>
              </a:spcAft>
              <a:defRPr sz="1120">
                <a:solidFill>
                  <a:srgbClr val="282828"/>
                </a:solidFill>
                <a:latin typeface="Aptos"/>
              </a:defRPr>
            </a:pPr>
            <a:r>
              <a:t>Derived `post`, `mid`, and `pre` from 7-item event structure.</a:t>
            </a:r>
          </a:p>
        </p:txBody>
      </p:sp>
      <p:sp>
        <p:nvSpPr>
          <p:cNvPr id="18" name="Rounded Rectangle 17"/>
          <p:cNvSpPr/>
          <p:nvPr/>
        </p:nvSpPr>
        <p:spPr>
          <a:xfrm>
            <a:off x="10149840" y="1828800"/>
            <a:ext cx="2148840" cy="2148840"/>
          </a:xfrm>
          <a:prstGeom prst="roundRect">
            <a:avLst/>
          </a:prstGeom>
          <a:solidFill>
            <a:srgbClr val="FFFFFF"/>
          </a:solidFill>
          <a:ln w="20320">
            <a:solidFill>
              <a:srgbClr val="238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96144" y="1938528"/>
            <a:ext cx="1874520" cy="274320"/>
          </a:xfrm>
          <a:prstGeom prst="rect">
            <a:avLst/>
          </a:prstGeom>
          <a:noFill/>
        </p:spPr>
        <p:txBody>
          <a:bodyPr wrap="none">
            <a:spAutoFit/>
          </a:bodyPr>
          <a:lstStyle/>
          <a:p>
            <a:r>
              <a:rPr sz="1300" b="1">
                <a:solidFill>
                  <a:srgbClr val="238488"/>
                </a:solidFill>
                <a:latin typeface="Aptos"/>
              </a:rPr>
              <a:t>Test Setup</a:t>
            </a:r>
          </a:p>
        </p:txBody>
      </p:sp>
      <p:sp>
        <p:nvSpPr>
          <p:cNvPr id="20" name="TextBox 19"/>
          <p:cNvSpPr txBox="1"/>
          <p:nvPr/>
        </p:nvSpPr>
        <p:spPr>
          <a:xfrm>
            <a:off x="10296144" y="2240280"/>
            <a:ext cx="1874520" cy="1618488"/>
          </a:xfrm>
          <a:prstGeom prst="rect">
            <a:avLst/>
          </a:prstGeom>
          <a:noFill/>
        </p:spPr>
        <p:txBody>
          <a:bodyPr wrap="square">
            <a:spAutoFit/>
          </a:bodyPr>
          <a:lstStyle/>
          <a:p>
            <a:pPr>
              <a:spcAft>
                <a:spcPts val="400"/>
              </a:spcAft>
              <a:defRPr sz="1120">
                <a:solidFill>
                  <a:srgbClr val="282828"/>
                </a:solidFill>
                <a:latin typeface="Aptos"/>
              </a:defRPr>
            </a:pPr>
            <a:r>
              <a:t>Retained 150 non-empty test trials.</a:t>
            </a:r>
          </a:p>
          <a:p>
            <a:pPr>
              <a:spcAft>
                <a:spcPts val="400"/>
              </a:spcAft>
              <a:defRPr sz="1120">
                <a:solidFill>
                  <a:srgbClr val="282828"/>
                </a:solidFill>
                <a:latin typeface="Aptos"/>
              </a:defRPr>
            </a:pPr>
            <a:r>
              <a:t>Parsed filenames to classify target, lure, and foil items.</a:t>
            </a:r>
          </a:p>
        </p:txBody>
      </p:sp>
      <p:sp>
        <p:nvSpPr>
          <p:cNvPr id="21" name="Chevron 20"/>
          <p:cNvSpPr/>
          <p:nvPr/>
        </p:nvSpPr>
        <p:spPr>
          <a:xfrm>
            <a:off x="2697480" y="2468880"/>
            <a:ext cx="256032" cy="365760"/>
          </a:xfrm>
          <a:prstGeom prst="chevron">
            <a:avLst/>
          </a:prstGeom>
          <a:solidFill>
            <a:srgbClr val="E4E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hevron 21"/>
          <p:cNvSpPr/>
          <p:nvPr/>
        </p:nvSpPr>
        <p:spPr>
          <a:xfrm>
            <a:off x="5212080" y="2468880"/>
            <a:ext cx="256032" cy="365760"/>
          </a:xfrm>
          <a:prstGeom prst="chevron">
            <a:avLst/>
          </a:prstGeom>
          <a:solidFill>
            <a:srgbClr val="E4E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hevron 22"/>
          <p:cNvSpPr/>
          <p:nvPr/>
        </p:nvSpPr>
        <p:spPr>
          <a:xfrm>
            <a:off x="7726679" y="2468880"/>
            <a:ext cx="256032" cy="365760"/>
          </a:xfrm>
          <a:prstGeom prst="chevron">
            <a:avLst/>
          </a:prstGeom>
          <a:solidFill>
            <a:srgbClr val="E4E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hevron 23"/>
          <p:cNvSpPr/>
          <p:nvPr/>
        </p:nvSpPr>
        <p:spPr>
          <a:xfrm>
            <a:off x="9784080" y="2468880"/>
            <a:ext cx="256032" cy="365760"/>
          </a:xfrm>
          <a:prstGeom prst="chevron">
            <a:avLst/>
          </a:prstGeom>
          <a:solidFill>
            <a:srgbClr val="E4E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572000"/>
            <a:ext cx="10881360" cy="1143000"/>
          </a:xfrm>
          <a:prstGeom prst="rect">
            <a:avLst/>
          </a:prstGeom>
          <a:noFill/>
        </p:spPr>
        <p:txBody>
          <a:bodyPr wrap="square">
            <a:spAutoFit/>
          </a:bodyPr>
          <a:lstStyle/>
          <a:p>
            <a:pPr>
              <a:spcAft>
                <a:spcPts val="800"/>
              </a:spcAft>
              <a:defRPr sz="1500">
                <a:solidFill>
                  <a:srgbClr val="282828"/>
                </a:solidFill>
                <a:latin typeface="Aptos"/>
              </a:defRPr>
            </a:pPr>
            <a:r>
              <a:t>Response time was derived from in-trial response when available, or from post-stimulus RT adjusted by +3 seconds when the response came after image offset.</a:t>
            </a:r>
          </a:p>
          <a:p>
            <a:pPr>
              <a:spcAft>
                <a:spcPts val="800"/>
              </a:spcAft>
              <a:defRPr sz="1500">
                <a:solidFill>
                  <a:srgbClr val="282828"/>
                </a:solidFill>
                <a:latin typeface="Aptos"/>
              </a:defRPr>
            </a:pPr>
            <a:r>
              <a:t>This preprocessing ensures later condition comparisons are based on clean, comparable participant summaries rather than raw trial counts.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8046720" cy="731520"/>
          </a:xfrm>
          <a:prstGeom prst="rect">
            <a:avLst/>
          </a:prstGeom>
          <a:noFill/>
        </p:spPr>
        <p:txBody>
          <a:bodyPr wrap="none">
            <a:spAutoFit/>
          </a:bodyPr>
          <a:lstStyle/>
          <a:p>
            <a:r>
              <a:rPr sz="2400" b="1">
                <a:solidFill>
                  <a:srgbClr val="14213D"/>
                </a:solidFill>
                <a:latin typeface="Aptos Display"/>
              </a:rPr>
              <a:t>Variables and Scoring Metrics</a:t>
            </a:r>
          </a:p>
        </p:txBody>
      </p:sp>
      <p:sp>
        <p:nvSpPr>
          <p:cNvPr id="4" name="TextBox 3"/>
          <p:cNvSpPr txBox="1"/>
          <p:nvPr/>
        </p:nvSpPr>
        <p:spPr>
          <a:xfrm>
            <a:off x="530352" y="1024128"/>
            <a:ext cx="7863840" cy="411480"/>
          </a:xfrm>
          <a:prstGeom prst="rect">
            <a:avLst/>
          </a:prstGeom>
          <a:noFill/>
        </p:spPr>
        <p:txBody>
          <a:bodyPr wrap="none">
            <a:spAutoFit/>
          </a:bodyPr>
          <a:lstStyle/>
          <a:p>
            <a:r>
              <a:rPr sz="1150">
                <a:solidFill>
                  <a:srgbClr val="5C6670"/>
                </a:solidFill>
                <a:latin typeface="Aptos"/>
              </a:rPr>
              <a:t>What was measured and how each score was defined</a:t>
            </a:r>
          </a:p>
        </p:txBody>
      </p:sp>
      <p:sp>
        <p:nvSpPr>
          <p:cNvPr id="5" name="Rounded Rectangle 4"/>
          <p:cNvSpPr/>
          <p:nvPr/>
        </p:nvSpPr>
        <p:spPr>
          <a:xfrm>
            <a:off x="9829800" y="566928"/>
            <a:ext cx="1737360" cy="384048"/>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336699"/>
                </a:solidFill>
                <a:latin typeface="Aptos"/>
              </a:rPr>
              <a:t>Owner: Pavan</a:t>
            </a:r>
          </a:p>
        </p:txBody>
      </p:sp>
      <p:sp>
        <p:nvSpPr>
          <p:cNvPr id="6" name="Rounded Rectangle 5"/>
          <p:cNvSpPr/>
          <p:nvPr/>
        </p:nvSpPr>
        <p:spPr>
          <a:xfrm>
            <a:off x="731520" y="1554480"/>
            <a:ext cx="3474720" cy="201168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64208"/>
            <a:ext cx="3145536" cy="274320"/>
          </a:xfrm>
          <a:prstGeom prst="rect">
            <a:avLst/>
          </a:prstGeom>
          <a:noFill/>
        </p:spPr>
        <p:txBody>
          <a:bodyPr wrap="none">
            <a:spAutoFit/>
          </a:bodyPr>
          <a:lstStyle/>
          <a:p>
            <a:r>
              <a:rPr sz="1300" b="1">
                <a:solidFill>
                  <a:srgbClr val="336699"/>
                </a:solidFill>
                <a:latin typeface="Aptos"/>
              </a:rPr>
              <a:t>Independent variables</a:t>
            </a:r>
          </a:p>
        </p:txBody>
      </p:sp>
      <p:sp>
        <p:nvSpPr>
          <p:cNvPr id="8" name="TextBox 7"/>
          <p:cNvSpPr txBox="1"/>
          <p:nvPr/>
        </p:nvSpPr>
        <p:spPr>
          <a:xfrm>
            <a:off x="896112" y="1938528"/>
            <a:ext cx="3145536" cy="1536192"/>
          </a:xfrm>
          <a:prstGeom prst="rect">
            <a:avLst/>
          </a:prstGeom>
          <a:noFill/>
        </p:spPr>
        <p:txBody>
          <a:bodyPr wrap="square">
            <a:spAutoFit/>
          </a:bodyPr>
          <a:lstStyle/>
          <a:p>
            <a:pPr>
              <a:spcAft>
                <a:spcPts val="500"/>
              </a:spcAft>
              <a:defRPr sz="1150">
                <a:solidFill>
                  <a:srgbClr val="282828"/>
                </a:solidFill>
                <a:latin typeface="Aptos"/>
              </a:defRPr>
            </a:pPr>
            <a:r>
              <a:t>Condition: `item_only`, `both`, `task_only`</a:t>
            </a:r>
          </a:p>
          <a:p>
            <a:pPr>
              <a:spcAft>
                <a:spcPts val="500"/>
              </a:spcAft>
              <a:defRPr sz="1150">
                <a:solidFill>
                  <a:srgbClr val="282828"/>
                </a:solidFill>
                <a:latin typeface="Aptos"/>
              </a:defRPr>
            </a:pPr>
            <a:r>
              <a:t>Boundary position: `post`, `mid`, `pre`</a:t>
            </a:r>
          </a:p>
        </p:txBody>
      </p:sp>
      <p:sp>
        <p:nvSpPr>
          <p:cNvPr id="9" name="Rounded Rectangle 8"/>
          <p:cNvSpPr/>
          <p:nvPr/>
        </p:nvSpPr>
        <p:spPr>
          <a:xfrm>
            <a:off x="4389120" y="1554480"/>
            <a:ext cx="3474720" cy="201168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1664208"/>
            <a:ext cx="3145536" cy="274320"/>
          </a:xfrm>
          <a:prstGeom prst="rect">
            <a:avLst/>
          </a:prstGeom>
          <a:noFill/>
        </p:spPr>
        <p:txBody>
          <a:bodyPr wrap="none">
            <a:spAutoFit/>
          </a:bodyPr>
          <a:lstStyle/>
          <a:p>
            <a:r>
              <a:rPr sz="1300" b="1">
                <a:solidFill>
                  <a:srgbClr val="238488"/>
                </a:solidFill>
                <a:latin typeface="Aptos"/>
              </a:rPr>
              <a:t>Encoding variable</a:t>
            </a:r>
          </a:p>
        </p:txBody>
      </p:sp>
      <p:sp>
        <p:nvSpPr>
          <p:cNvPr id="11" name="TextBox 10"/>
          <p:cNvSpPr txBox="1"/>
          <p:nvPr/>
        </p:nvSpPr>
        <p:spPr>
          <a:xfrm>
            <a:off x="4553712" y="1938528"/>
            <a:ext cx="3145536" cy="1536192"/>
          </a:xfrm>
          <a:prstGeom prst="rect">
            <a:avLst/>
          </a:prstGeom>
          <a:noFill/>
        </p:spPr>
        <p:txBody>
          <a:bodyPr wrap="square">
            <a:spAutoFit/>
          </a:bodyPr>
          <a:lstStyle/>
          <a:p>
            <a:pPr>
              <a:spcAft>
                <a:spcPts val="500"/>
              </a:spcAft>
              <a:defRPr sz="1150">
                <a:solidFill>
                  <a:srgbClr val="282828"/>
                </a:solidFill>
                <a:latin typeface="Aptos"/>
              </a:defRPr>
            </a:pPr>
            <a:r>
              <a:t>Mean encoding response time</a:t>
            </a:r>
          </a:p>
          <a:p>
            <a:pPr>
              <a:spcAft>
                <a:spcPts val="500"/>
              </a:spcAft>
              <a:defRPr sz="1150">
                <a:solidFill>
                  <a:srgbClr val="282828"/>
                </a:solidFill>
                <a:latin typeface="Aptos"/>
              </a:defRPr>
            </a:pPr>
            <a:r>
              <a:t>Response completeness by boundary position</a:t>
            </a:r>
          </a:p>
        </p:txBody>
      </p:sp>
      <p:sp>
        <p:nvSpPr>
          <p:cNvPr id="12" name="Rounded Rectangle 11"/>
          <p:cNvSpPr/>
          <p:nvPr/>
        </p:nvSpPr>
        <p:spPr>
          <a:xfrm>
            <a:off x="8046720" y="1554480"/>
            <a:ext cx="3474720" cy="201168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2" y="1664208"/>
            <a:ext cx="3145536" cy="274320"/>
          </a:xfrm>
          <a:prstGeom prst="rect">
            <a:avLst/>
          </a:prstGeom>
          <a:noFill/>
        </p:spPr>
        <p:txBody>
          <a:bodyPr wrap="none">
            <a:spAutoFit/>
          </a:bodyPr>
          <a:lstStyle/>
          <a:p>
            <a:r>
              <a:rPr sz="1300" b="1">
                <a:solidFill>
                  <a:srgbClr val="CB6C37"/>
                </a:solidFill>
                <a:latin typeface="Aptos"/>
              </a:rPr>
              <a:t>Memory variables</a:t>
            </a:r>
          </a:p>
        </p:txBody>
      </p:sp>
      <p:sp>
        <p:nvSpPr>
          <p:cNvPr id="14" name="TextBox 13"/>
          <p:cNvSpPr txBox="1"/>
          <p:nvPr/>
        </p:nvSpPr>
        <p:spPr>
          <a:xfrm>
            <a:off x="8211312" y="1938528"/>
            <a:ext cx="3145536" cy="1536192"/>
          </a:xfrm>
          <a:prstGeom prst="rect">
            <a:avLst/>
          </a:prstGeom>
          <a:noFill/>
        </p:spPr>
        <p:txBody>
          <a:bodyPr wrap="square">
            <a:spAutoFit/>
          </a:bodyPr>
          <a:lstStyle/>
          <a:p>
            <a:pPr>
              <a:spcAft>
                <a:spcPts val="500"/>
              </a:spcAft>
              <a:defRPr sz="1150">
                <a:solidFill>
                  <a:srgbClr val="282828"/>
                </a:solidFill>
                <a:latin typeface="Aptos"/>
              </a:defRPr>
            </a:pPr>
            <a:r>
              <a:t>REC: bias-corrected target recognition</a:t>
            </a:r>
          </a:p>
          <a:p>
            <a:pPr>
              <a:spcAft>
                <a:spcPts val="500"/>
              </a:spcAft>
              <a:defRPr sz="1150">
                <a:solidFill>
                  <a:srgbClr val="282828"/>
                </a:solidFill>
                <a:latin typeface="Aptos"/>
              </a:defRPr>
            </a:pPr>
            <a:r>
              <a:t>LDI: bias-corrected lure discrimination</a:t>
            </a:r>
          </a:p>
        </p:txBody>
      </p:sp>
      <p:sp>
        <p:nvSpPr>
          <p:cNvPr id="15" name="Rounded Rectangle 14"/>
          <p:cNvSpPr/>
          <p:nvPr/>
        </p:nvSpPr>
        <p:spPr>
          <a:xfrm>
            <a:off x="914400" y="3977639"/>
            <a:ext cx="10287000" cy="141732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4297680"/>
            <a:ext cx="9875520" cy="731520"/>
          </a:xfrm>
          <a:prstGeom prst="rect">
            <a:avLst/>
          </a:prstGeom>
          <a:noFill/>
        </p:spPr>
        <p:txBody>
          <a:bodyPr wrap="none">
            <a:spAutoFit/>
          </a:bodyPr>
          <a:lstStyle/>
          <a:p>
            <a:pPr algn="ctr"/>
            <a:r>
              <a:rPr sz="1800" b="1">
                <a:solidFill>
                  <a:srgbClr val="14213D"/>
                </a:solidFill>
                <a:latin typeface="Aptos"/>
              </a:rPr>
              <a:t>REC = P("old" | Target) - P("old" | Foil)      |      LDI = P("similar" | Lure) - P("similar" | Foil)</a:t>
            </a:r>
          </a:p>
        </p:txBody>
      </p:sp>
      <p:sp>
        <p:nvSpPr>
          <p:cNvPr id="17" name="TextBox 16"/>
          <p:cNvSpPr txBox="1"/>
          <p:nvPr/>
        </p:nvSpPr>
        <p:spPr>
          <a:xfrm>
            <a:off x="914400" y="5623560"/>
            <a:ext cx="10149840" cy="731520"/>
          </a:xfrm>
          <a:prstGeom prst="rect">
            <a:avLst/>
          </a:prstGeom>
          <a:noFill/>
        </p:spPr>
        <p:txBody>
          <a:bodyPr wrap="square">
            <a:spAutoFit/>
          </a:bodyPr>
          <a:lstStyle/>
          <a:p>
            <a:pPr>
              <a:spcAft>
                <a:spcPts val="800"/>
              </a:spcAft>
              <a:defRPr sz="1400">
                <a:solidFill>
                  <a:srgbClr val="282828"/>
                </a:solidFill>
                <a:latin typeface="Aptos"/>
              </a:defRPr>
            </a:pPr>
            <a:r>
              <a:t>A sensitivity check also computed an alternate LDI-style measure by combining `new` and `similar` as lure rejection responses.</a:t>
            </a:r>
          </a:p>
          <a:p>
            <a:pPr>
              <a:spcAft>
                <a:spcPts val="800"/>
              </a:spcAft>
              <a:defRPr sz="1400">
                <a:solidFill>
                  <a:srgbClr val="282828"/>
                </a:solidFill>
                <a:latin typeface="Aptos"/>
              </a:defRPr>
            </a:pPr>
            <a:r>
              <a:t>Lure-similarity bins were attached to each image to test whether discrimination improves as lures become less similar.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8046720" cy="731520"/>
          </a:xfrm>
          <a:prstGeom prst="rect">
            <a:avLst/>
          </a:prstGeom>
          <a:noFill/>
        </p:spPr>
        <p:txBody>
          <a:bodyPr wrap="none">
            <a:spAutoFit/>
          </a:bodyPr>
          <a:lstStyle/>
          <a:p>
            <a:r>
              <a:rPr sz="2400" b="1">
                <a:solidFill>
                  <a:srgbClr val="14213D"/>
                </a:solidFill>
                <a:latin typeface="Aptos Display"/>
              </a:rPr>
              <a:t>Statistical Tests and Analysis Plan</a:t>
            </a:r>
          </a:p>
        </p:txBody>
      </p:sp>
      <p:sp>
        <p:nvSpPr>
          <p:cNvPr id="4" name="TextBox 3"/>
          <p:cNvSpPr txBox="1"/>
          <p:nvPr/>
        </p:nvSpPr>
        <p:spPr>
          <a:xfrm>
            <a:off x="530352" y="1024128"/>
            <a:ext cx="7863840" cy="411480"/>
          </a:xfrm>
          <a:prstGeom prst="rect">
            <a:avLst/>
          </a:prstGeom>
          <a:noFill/>
        </p:spPr>
        <p:txBody>
          <a:bodyPr wrap="none">
            <a:spAutoFit/>
          </a:bodyPr>
          <a:lstStyle/>
          <a:p>
            <a:r>
              <a:rPr sz="1150">
                <a:solidFill>
                  <a:srgbClr val="5C6670"/>
                </a:solidFill>
                <a:latin typeface="Aptos"/>
              </a:rPr>
              <a:t>Hypotheses and inferential strategy</a:t>
            </a:r>
          </a:p>
        </p:txBody>
      </p:sp>
      <p:sp>
        <p:nvSpPr>
          <p:cNvPr id="5" name="Rounded Rectangle 4"/>
          <p:cNvSpPr/>
          <p:nvPr/>
        </p:nvSpPr>
        <p:spPr>
          <a:xfrm>
            <a:off x="9829800" y="566928"/>
            <a:ext cx="1737360" cy="384048"/>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336699"/>
                </a:solidFill>
                <a:latin typeface="Aptos"/>
              </a:rPr>
              <a:t>Owner: Pavan</a:t>
            </a:r>
          </a:p>
        </p:txBody>
      </p:sp>
      <p:sp>
        <p:nvSpPr>
          <p:cNvPr id="6" name="Rounded Rectangle 5"/>
          <p:cNvSpPr/>
          <p:nvPr/>
        </p:nvSpPr>
        <p:spPr>
          <a:xfrm>
            <a:off x="731520" y="1508760"/>
            <a:ext cx="5212080" cy="361188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18488"/>
            <a:ext cx="4882896" cy="274320"/>
          </a:xfrm>
          <a:prstGeom prst="rect">
            <a:avLst/>
          </a:prstGeom>
          <a:noFill/>
        </p:spPr>
        <p:txBody>
          <a:bodyPr wrap="none">
            <a:spAutoFit/>
          </a:bodyPr>
          <a:lstStyle/>
          <a:p>
            <a:r>
              <a:rPr sz="1300" b="1">
                <a:solidFill>
                  <a:srgbClr val="336699"/>
                </a:solidFill>
                <a:latin typeface="Aptos"/>
              </a:rPr>
              <a:t>Hypotheses</a:t>
            </a:r>
          </a:p>
        </p:txBody>
      </p:sp>
      <p:sp>
        <p:nvSpPr>
          <p:cNvPr id="8" name="TextBox 7"/>
          <p:cNvSpPr txBox="1"/>
          <p:nvPr/>
        </p:nvSpPr>
        <p:spPr>
          <a:xfrm>
            <a:off x="896112" y="1892808"/>
            <a:ext cx="4882896" cy="3136392"/>
          </a:xfrm>
          <a:prstGeom prst="rect">
            <a:avLst/>
          </a:prstGeom>
          <a:noFill/>
        </p:spPr>
        <p:txBody>
          <a:bodyPr wrap="square">
            <a:spAutoFit/>
          </a:bodyPr>
          <a:lstStyle/>
          <a:p>
            <a:pPr>
              <a:spcAft>
                <a:spcPts val="500"/>
              </a:spcAft>
              <a:defRPr sz="1150">
                <a:solidFill>
                  <a:srgbClr val="282828"/>
                </a:solidFill>
                <a:latin typeface="Aptos"/>
              </a:defRPr>
            </a:pPr>
            <a:r>
              <a:t>H1 (Encoding RT): post-boundary items will be slower, especially when the task rule changes.</a:t>
            </a:r>
          </a:p>
          <a:p>
            <a:pPr>
              <a:spcAft>
                <a:spcPts val="500"/>
              </a:spcAft>
              <a:defRPr sz="1150">
                <a:solidFill>
                  <a:srgbClr val="282828"/>
                </a:solidFill>
                <a:latin typeface="Aptos"/>
              </a:defRPr>
            </a:pPr>
            <a:r>
              <a:t>H1 (Recognition): post-boundary REC will be lower than mid-event REC, strongest in `both`.</a:t>
            </a:r>
          </a:p>
          <a:p>
            <a:pPr>
              <a:spcAft>
                <a:spcPts val="500"/>
              </a:spcAft>
              <a:defRPr sz="1150">
                <a:solidFill>
                  <a:srgbClr val="282828"/>
                </a:solidFill>
                <a:latin typeface="Aptos"/>
              </a:defRPr>
            </a:pPr>
            <a:r>
              <a:t>H1 (Lure discrimination): pre-boundary LDI may be higher than post or mid, following the target paper.</a:t>
            </a:r>
          </a:p>
        </p:txBody>
      </p:sp>
      <p:sp>
        <p:nvSpPr>
          <p:cNvPr id="9" name="Rounded Rectangle 8"/>
          <p:cNvSpPr/>
          <p:nvPr/>
        </p:nvSpPr>
        <p:spPr>
          <a:xfrm>
            <a:off x="6217920" y="1508760"/>
            <a:ext cx="5212080" cy="361188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618488"/>
            <a:ext cx="4882896" cy="274320"/>
          </a:xfrm>
          <a:prstGeom prst="rect">
            <a:avLst/>
          </a:prstGeom>
          <a:noFill/>
        </p:spPr>
        <p:txBody>
          <a:bodyPr wrap="none">
            <a:spAutoFit/>
          </a:bodyPr>
          <a:lstStyle/>
          <a:p>
            <a:r>
              <a:rPr sz="1300" b="1">
                <a:solidFill>
                  <a:srgbClr val="238488"/>
                </a:solidFill>
                <a:latin typeface="Aptos"/>
              </a:rPr>
              <a:t>Analysis workflow</a:t>
            </a:r>
          </a:p>
        </p:txBody>
      </p:sp>
      <p:sp>
        <p:nvSpPr>
          <p:cNvPr id="11" name="TextBox 10"/>
          <p:cNvSpPr txBox="1"/>
          <p:nvPr/>
        </p:nvSpPr>
        <p:spPr>
          <a:xfrm>
            <a:off x="6382512" y="1892808"/>
            <a:ext cx="4882896" cy="3136392"/>
          </a:xfrm>
          <a:prstGeom prst="rect">
            <a:avLst/>
          </a:prstGeom>
          <a:noFill/>
        </p:spPr>
        <p:txBody>
          <a:bodyPr wrap="square">
            <a:spAutoFit/>
          </a:bodyPr>
          <a:lstStyle/>
          <a:p>
            <a:pPr>
              <a:spcAft>
                <a:spcPts val="500"/>
              </a:spcAft>
              <a:defRPr sz="1150">
                <a:solidFill>
                  <a:srgbClr val="282828"/>
                </a:solidFill>
                <a:latin typeface="Aptos"/>
              </a:defRPr>
            </a:pPr>
            <a:r>
              <a:t>1. Compute participant-level summaries for each condition and boundary position.</a:t>
            </a:r>
          </a:p>
          <a:p>
            <a:pPr>
              <a:spcAft>
                <a:spcPts val="500"/>
              </a:spcAft>
              <a:defRPr sz="1150">
                <a:solidFill>
                  <a:srgbClr val="282828"/>
                </a:solidFill>
                <a:latin typeface="Aptos"/>
              </a:defRPr>
            </a:pPr>
            <a:r>
              <a:t>2. Visualize means and individual structure before testing.</a:t>
            </a:r>
          </a:p>
          <a:p>
            <a:pPr>
              <a:spcAft>
                <a:spcPts val="500"/>
              </a:spcAft>
              <a:defRPr sz="1150">
                <a:solidFill>
                  <a:srgbClr val="282828"/>
                </a:solidFill>
                <a:latin typeface="Aptos"/>
              </a:defRPr>
            </a:pPr>
            <a:r>
              <a:t>3. Run repeated-measures ANOVA within each condition.</a:t>
            </a:r>
          </a:p>
          <a:p>
            <a:pPr>
              <a:spcAft>
                <a:spcPts val="500"/>
              </a:spcAft>
              <a:defRPr sz="1150">
                <a:solidFill>
                  <a:srgbClr val="282828"/>
                </a:solidFill>
                <a:latin typeface="Aptos"/>
              </a:defRPr>
            </a:pPr>
            <a:r>
              <a:t>4. Follow informative ANOVAs with Holm-corrected paired t-tests.</a:t>
            </a:r>
          </a:p>
          <a:p>
            <a:pPr>
              <a:spcAft>
                <a:spcPts val="500"/>
              </a:spcAft>
              <a:defRPr sz="1150">
                <a:solidFill>
                  <a:srgbClr val="282828"/>
                </a:solidFill>
                <a:latin typeface="Aptos"/>
              </a:defRPr>
            </a:pPr>
            <a:r>
              <a:t>5. Compare contrast scores across conditions when needed.</a:t>
            </a:r>
          </a:p>
        </p:txBody>
      </p:sp>
      <p:sp>
        <p:nvSpPr>
          <p:cNvPr id="12" name="TextBox 11"/>
          <p:cNvSpPr txBox="1"/>
          <p:nvPr/>
        </p:nvSpPr>
        <p:spPr>
          <a:xfrm>
            <a:off x="868680" y="5532120"/>
            <a:ext cx="10332720" cy="502920"/>
          </a:xfrm>
          <a:prstGeom prst="rect">
            <a:avLst/>
          </a:prstGeom>
          <a:noFill/>
        </p:spPr>
        <p:txBody>
          <a:bodyPr wrap="square">
            <a:spAutoFit/>
          </a:bodyPr>
          <a:lstStyle/>
          <a:p>
            <a:pPr>
              <a:spcAft>
                <a:spcPts val="800"/>
              </a:spcAft>
              <a:defRPr sz="1400">
                <a:solidFill>
                  <a:srgbClr val="282828"/>
                </a:solidFill>
                <a:latin typeface="Aptos"/>
              </a:defRPr>
            </a:pPr>
            <a:r>
              <a:t>This strategy keeps the analysis interpretable and aligned with the course emphasis on subject-level inference and multiple-comparison control.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8046720" cy="731520"/>
          </a:xfrm>
          <a:prstGeom prst="rect">
            <a:avLst/>
          </a:prstGeom>
          <a:noFill/>
        </p:spPr>
        <p:txBody>
          <a:bodyPr wrap="none">
            <a:spAutoFit/>
          </a:bodyPr>
          <a:lstStyle/>
          <a:p>
            <a:r>
              <a:rPr sz="2400" b="1">
                <a:solidFill>
                  <a:srgbClr val="14213D"/>
                </a:solidFill>
                <a:latin typeface="Aptos Display"/>
              </a:rPr>
              <a:t>Results: Data Quality and Response Profiles</a:t>
            </a:r>
          </a:p>
        </p:txBody>
      </p:sp>
      <p:sp>
        <p:nvSpPr>
          <p:cNvPr id="4" name="TextBox 3"/>
          <p:cNvSpPr txBox="1"/>
          <p:nvPr/>
        </p:nvSpPr>
        <p:spPr>
          <a:xfrm>
            <a:off x="530352" y="1024128"/>
            <a:ext cx="7863840" cy="411480"/>
          </a:xfrm>
          <a:prstGeom prst="rect">
            <a:avLst/>
          </a:prstGeom>
          <a:noFill/>
        </p:spPr>
        <p:txBody>
          <a:bodyPr wrap="none">
            <a:spAutoFit/>
          </a:bodyPr>
          <a:lstStyle/>
          <a:p>
            <a:r>
              <a:rPr sz="1150">
                <a:solidFill>
                  <a:srgbClr val="5C6670"/>
                </a:solidFill>
                <a:latin typeface="Aptos"/>
              </a:rPr>
              <a:t>Participants used the expected response categories</a:t>
            </a:r>
          </a:p>
        </p:txBody>
      </p:sp>
      <p:sp>
        <p:nvSpPr>
          <p:cNvPr id="5" name="Rounded Rectangle 4"/>
          <p:cNvSpPr/>
          <p:nvPr/>
        </p:nvSpPr>
        <p:spPr>
          <a:xfrm>
            <a:off x="9829800" y="566928"/>
            <a:ext cx="1737360" cy="384048"/>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336699"/>
                </a:solidFill>
                <a:latin typeface="Aptos"/>
              </a:rPr>
              <a:t>Owner: Renu</a:t>
            </a:r>
          </a:p>
        </p:txBody>
      </p:sp>
      <p:pic>
        <p:nvPicPr>
          <p:cNvPr id="6" name="Picture 5" descr="phase1_response_profiles.png"/>
          <p:cNvPicPr>
            <a:picLocks noChangeAspect="1"/>
          </p:cNvPicPr>
          <p:nvPr/>
        </p:nvPicPr>
        <p:blipFill>
          <a:blip r:embed="rId2"/>
          <a:stretch>
            <a:fillRect/>
          </a:stretch>
        </p:blipFill>
        <p:spPr>
          <a:xfrm>
            <a:off x="594360" y="2345799"/>
            <a:ext cx="7406640" cy="3172240"/>
          </a:xfrm>
          <a:prstGeom prst="rect">
            <a:avLst/>
          </a:prstGeom>
        </p:spPr>
      </p:pic>
      <p:sp>
        <p:nvSpPr>
          <p:cNvPr id="7" name="TextBox 6"/>
          <p:cNvSpPr txBox="1"/>
          <p:nvPr/>
        </p:nvSpPr>
        <p:spPr>
          <a:xfrm>
            <a:off x="8183879" y="1828800"/>
            <a:ext cx="3383280" cy="2377440"/>
          </a:xfrm>
          <a:prstGeom prst="rect">
            <a:avLst/>
          </a:prstGeom>
          <a:noFill/>
        </p:spPr>
        <p:txBody>
          <a:bodyPr wrap="square">
            <a:spAutoFit/>
          </a:bodyPr>
          <a:lstStyle/>
          <a:p>
            <a:pPr>
              <a:spcAft>
                <a:spcPts val="800"/>
              </a:spcAft>
              <a:defRPr sz="1600">
                <a:solidFill>
                  <a:srgbClr val="282828"/>
                </a:solidFill>
                <a:latin typeface="Aptos"/>
              </a:defRPr>
            </a:pPr>
            <a:r>
              <a:t>Targets were mostly labeled `old`, lures were mostly labeled `similar`, and foils were mostly labeled `new`.</a:t>
            </a:r>
          </a:p>
          <a:p>
            <a:pPr>
              <a:spcAft>
                <a:spcPts val="800"/>
              </a:spcAft>
              <a:defRPr sz="1600">
                <a:solidFill>
                  <a:srgbClr val="282828"/>
                </a:solidFill>
                <a:latin typeface="Aptos"/>
              </a:defRPr>
            </a:pPr>
            <a:r>
              <a:t>This diagonal pattern is a basic but important quality-control check before interpreting memory indices.</a:t>
            </a:r>
          </a:p>
          <a:p>
            <a:pPr>
              <a:spcAft>
                <a:spcPts val="800"/>
              </a:spcAft>
              <a:defRPr sz="1600">
                <a:solidFill>
                  <a:srgbClr val="282828"/>
                </a:solidFill>
                <a:latin typeface="Aptos"/>
              </a:defRPr>
            </a:pPr>
            <a:r>
              <a:t>It supports that participants understood the response options and were not responding randomly.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8046720" cy="731520"/>
          </a:xfrm>
          <a:prstGeom prst="rect">
            <a:avLst/>
          </a:prstGeom>
          <a:noFill/>
        </p:spPr>
        <p:txBody>
          <a:bodyPr wrap="none">
            <a:spAutoFit/>
          </a:bodyPr>
          <a:lstStyle/>
          <a:p>
            <a:r>
              <a:rPr sz="2400" b="1">
                <a:solidFill>
                  <a:srgbClr val="14213D"/>
                </a:solidFill>
                <a:latin typeface="Aptos Display"/>
              </a:rPr>
              <a:t>Results: Encoding RT</a:t>
            </a:r>
          </a:p>
        </p:txBody>
      </p:sp>
      <p:sp>
        <p:nvSpPr>
          <p:cNvPr id="4" name="TextBox 3"/>
          <p:cNvSpPr txBox="1"/>
          <p:nvPr/>
        </p:nvSpPr>
        <p:spPr>
          <a:xfrm>
            <a:off x="530352" y="1024128"/>
            <a:ext cx="7863840" cy="411480"/>
          </a:xfrm>
          <a:prstGeom prst="rect">
            <a:avLst/>
          </a:prstGeom>
          <a:noFill/>
        </p:spPr>
        <p:txBody>
          <a:bodyPr wrap="none">
            <a:spAutoFit/>
          </a:bodyPr>
          <a:lstStyle/>
          <a:p>
            <a:r>
              <a:rPr sz="1150">
                <a:solidFill>
                  <a:srgbClr val="5C6670"/>
                </a:solidFill>
                <a:latin typeface="Aptos"/>
              </a:rPr>
              <a:t>Boundary position clearly slowed encoding when task rules shifted</a:t>
            </a:r>
          </a:p>
        </p:txBody>
      </p:sp>
      <p:sp>
        <p:nvSpPr>
          <p:cNvPr id="5" name="Rounded Rectangle 4"/>
          <p:cNvSpPr/>
          <p:nvPr/>
        </p:nvSpPr>
        <p:spPr>
          <a:xfrm>
            <a:off x="9829800" y="566928"/>
            <a:ext cx="1737360" cy="384048"/>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336699"/>
                </a:solidFill>
                <a:latin typeface="Aptos"/>
              </a:rPr>
              <a:t>Owner: Renu</a:t>
            </a:r>
          </a:p>
        </p:txBody>
      </p:sp>
      <p:pic>
        <p:nvPicPr>
          <p:cNvPr id="6" name="Picture 5" descr="phase1_encoding_rt.png"/>
          <p:cNvPicPr>
            <a:picLocks noChangeAspect="1"/>
          </p:cNvPicPr>
          <p:nvPr/>
        </p:nvPicPr>
        <p:blipFill>
          <a:blip r:embed="rId2"/>
          <a:stretch>
            <a:fillRect/>
          </a:stretch>
        </p:blipFill>
        <p:spPr>
          <a:xfrm>
            <a:off x="594360" y="2364974"/>
            <a:ext cx="7223760" cy="2996730"/>
          </a:xfrm>
          <a:prstGeom prst="rect">
            <a:avLst/>
          </a:prstGeom>
        </p:spPr>
      </p:pic>
      <p:sp>
        <p:nvSpPr>
          <p:cNvPr id="7" name="Rounded Rectangle 6"/>
          <p:cNvSpPr/>
          <p:nvPr/>
        </p:nvSpPr>
        <p:spPr>
          <a:xfrm>
            <a:off x="8001000" y="1600200"/>
            <a:ext cx="3474720" cy="132588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65592" y="1709928"/>
            <a:ext cx="3145536" cy="274320"/>
          </a:xfrm>
          <a:prstGeom prst="rect">
            <a:avLst/>
          </a:prstGeom>
          <a:noFill/>
        </p:spPr>
        <p:txBody>
          <a:bodyPr wrap="none">
            <a:spAutoFit/>
          </a:bodyPr>
          <a:lstStyle/>
          <a:p>
            <a:r>
              <a:rPr sz="1300" b="1">
                <a:solidFill>
                  <a:srgbClr val="238488"/>
                </a:solidFill>
                <a:latin typeface="Aptos"/>
              </a:rPr>
              <a:t>Item + Task Shift</a:t>
            </a:r>
          </a:p>
        </p:txBody>
      </p:sp>
      <p:sp>
        <p:nvSpPr>
          <p:cNvPr id="9" name="TextBox 8"/>
          <p:cNvSpPr txBox="1"/>
          <p:nvPr/>
        </p:nvSpPr>
        <p:spPr>
          <a:xfrm>
            <a:off x="8165592" y="1984248"/>
            <a:ext cx="3145536" cy="850392"/>
          </a:xfrm>
          <a:prstGeom prst="rect">
            <a:avLst/>
          </a:prstGeom>
          <a:noFill/>
        </p:spPr>
        <p:txBody>
          <a:bodyPr wrap="square">
            <a:spAutoFit/>
          </a:bodyPr>
          <a:lstStyle/>
          <a:p>
            <a:pPr>
              <a:spcAft>
                <a:spcPts val="500"/>
              </a:spcAft>
              <a:defRPr sz="1150">
                <a:solidFill>
                  <a:srgbClr val="282828"/>
                </a:solidFill>
                <a:latin typeface="Aptos"/>
              </a:defRPr>
            </a:pPr>
            <a:r>
              <a:t>ANOVA: F(2,96) = 68.36, p &lt; .001</a:t>
            </a:r>
          </a:p>
          <a:p>
            <a:pPr>
              <a:spcAft>
                <a:spcPts val="500"/>
              </a:spcAft>
              <a:defRPr sz="1150">
                <a:solidFill>
                  <a:srgbClr val="282828"/>
                </a:solidFill>
                <a:latin typeface="Aptos"/>
              </a:defRPr>
            </a:pPr>
            <a:r>
              <a:t>Means: post 1.922, mid 1.702, pre 1.680</a:t>
            </a:r>
          </a:p>
        </p:txBody>
      </p:sp>
      <p:sp>
        <p:nvSpPr>
          <p:cNvPr id="10" name="Rounded Rectangle 9"/>
          <p:cNvSpPr/>
          <p:nvPr/>
        </p:nvSpPr>
        <p:spPr>
          <a:xfrm>
            <a:off x="8001000" y="3108960"/>
            <a:ext cx="3474720" cy="132588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65592" y="3218688"/>
            <a:ext cx="3145536" cy="274320"/>
          </a:xfrm>
          <a:prstGeom prst="rect">
            <a:avLst/>
          </a:prstGeom>
          <a:noFill/>
        </p:spPr>
        <p:txBody>
          <a:bodyPr wrap="none">
            <a:spAutoFit/>
          </a:bodyPr>
          <a:lstStyle/>
          <a:p>
            <a:r>
              <a:rPr sz="1300" b="1">
                <a:solidFill>
                  <a:srgbClr val="CB6C37"/>
                </a:solidFill>
                <a:latin typeface="Aptos"/>
              </a:rPr>
              <a:t>Task Shift Only</a:t>
            </a:r>
          </a:p>
        </p:txBody>
      </p:sp>
      <p:sp>
        <p:nvSpPr>
          <p:cNvPr id="12" name="TextBox 11"/>
          <p:cNvSpPr txBox="1"/>
          <p:nvPr/>
        </p:nvSpPr>
        <p:spPr>
          <a:xfrm>
            <a:off x="8165592" y="3493008"/>
            <a:ext cx="3145536" cy="850392"/>
          </a:xfrm>
          <a:prstGeom prst="rect">
            <a:avLst/>
          </a:prstGeom>
          <a:noFill/>
        </p:spPr>
        <p:txBody>
          <a:bodyPr wrap="square">
            <a:spAutoFit/>
          </a:bodyPr>
          <a:lstStyle/>
          <a:p>
            <a:pPr>
              <a:spcAft>
                <a:spcPts val="500"/>
              </a:spcAft>
              <a:defRPr sz="1150">
                <a:solidFill>
                  <a:srgbClr val="282828"/>
                </a:solidFill>
                <a:latin typeface="Aptos"/>
              </a:defRPr>
            </a:pPr>
            <a:r>
              <a:t>ANOVA: F(2,104) = 60.21, p &lt; .001</a:t>
            </a:r>
          </a:p>
          <a:p>
            <a:pPr>
              <a:spcAft>
                <a:spcPts val="500"/>
              </a:spcAft>
              <a:defRPr sz="1150">
                <a:solidFill>
                  <a:srgbClr val="282828"/>
                </a:solidFill>
                <a:latin typeface="Aptos"/>
              </a:defRPr>
            </a:pPr>
            <a:r>
              <a:t>Means: post 2.399, mid 2.164, pre 2.132</a:t>
            </a:r>
          </a:p>
        </p:txBody>
      </p:sp>
      <p:sp>
        <p:nvSpPr>
          <p:cNvPr id="13" name="Rounded Rectangle 12"/>
          <p:cNvSpPr/>
          <p:nvPr/>
        </p:nvSpPr>
        <p:spPr>
          <a:xfrm>
            <a:off x="8001000" y="4617720"/>
            <a:ext cx="3474720" cy="132588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65592" y="4727448"/>
            <a:ext cx="3145536" cy="274320"/>
          </a:xfrm>
          <a:prstGeom prst="rect">
            <a:avLst/>
          </a:prstGeom>
          <a:noFill/>
        </p:spPr>
        <p:txBody>
          <a:bodyPr wrap="none">
            <a:spAutoFit/>
          </a:bodyPr>
          <a:lstStyle/>
          <a:p>
            <a:r>
              <a:rPr sz="1300" b="1">
                <a:solidFill>
                  <a:srgbClr val="336699"/>
                </a:solidFill>
                <a:latin typeface="Aptos"/>
              </a:rPr>
              <a:t>Item Shift Only</a:t>
            </a:r>
          </a:p>
        </p:txBody>
      </p:sp>
      <p:sp>
        <p:nvSpPr>
          <p:cNvPr id="15" name="TextBox 14"/>
          <p:cNvSpPr txBox="1"/>
          <p:nvPr/>
        </p:nvSpPr>
        <p:spPr>
          <a:xfrm>
            <a:off x="8165592" y="5001768"/>
            <a:ext cx="3145536" cy="850392"/>
          </a:xfrm>
          <a:prstGeom prst="rect">
            <a:avLst/>
          </a:prstGeom>
          <a:noFill/>
        </p:spPr>
        <p:txBody>
          <a:bodyPr wrap="square">
            <a:spAutoFit/>
          </a:bodyPr>
          <a:lstStyle/>
          <a:p>
            <a:pPr>
              <a:spcAft>
                <a:spcPts val="500"/>
              </a:spcAft>
              <a:defRPr sz="1150">
                <a:solidFill>
                  <a:srgbClr val="282828"/>
                </a:solidFill>
                <a:latin typeface="Aptos"/>
              </a:defRPr>
            </a:pPr>
            <a:r>
              <a:t>ANOVA: F(2,110) = 2.22, p = 0.114</a:t>
            </a:r>
          </a:p>
          <a:p>
            <a:pPr>
              <a:spcAft>
                <a:spcPts val="500"/>
              </a:spcAft>
              <a:defRPr sz="1150">
                <a:solidFill>
                  <a:srgbClr val="282828"/>
                </a:solidFill>
                <a:latin typeface="Aptos"/>
              </a:defRPr>
            </a:pPr>
            <a:r>
              <a:t>No reliable post-boundary slowing in this condition.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8046720" cy="731520"/>
          </a:xfrm>
          <a:prstGeom prst="rect">
            <a:avLst/>
          </a:prstGeom>
          <a:noFill/>
        </p:spPr>
        <p:txBody>
          <a:bodyPr wrap="none">
            <a:spAutoFit/>
          </a:bodyPr>
          <a:lstStyle/>
          <a:p>
            <a:r>
              <a:rPr sz="2400" b="1">
                <a:solidFill>
                  <a:srgbClr val="14213D"/>
                </a:solidFill>
                <a:latin typeface="Aptos Display"/>
              </a:rPr>
              <a:t>Results: Recognition and LDI</a:t>
            </a:r>
          </a:p>
        </p:txBody>
      </p:sp>
      <p:sp>
        <p:nvSpPr>
          <p:cNvPr id="4" name="TextBox 3"/>
          <p:cNvSpPr txBox="1"/>
          <p:nvPr/>
        </p:nvSpPr>
        <p:spPr>
          <a:xfrm>
            <a:off x="530352" y="1024128"/>
            <a:ext cx="7863840" cy="411480"/>
          </a:xfrm>
          <a:prstGeom prst="rect">
            <a:avLst/>
          </a:prstGeom>
          <a:noFill/>
        </p:spPr>
        <p:txBody>
          <a:bodyPr wrap="none">
            <a:spAutoFit/>
          </a:bodyPr>
          <a:lstStyle/>
          <a:p>
            <a:r>
              <a:rPr sz="1150">
                <a:solidFill>
                  <a:srgbClr val="5C6670"/>
                </a:solidFill>
                <a:latin typeface="Aptos"/>
              </a:rPr>
              <a:t>Recognition showed a post-boundary cost, but LDI did not show the expected pre-boundary benefit</a:t>
            </a:r>
          </a:p>
        </p:txBody>
      </p:sp>
      <p:sp>
        <p:nvSpPr>
          <p:cNvPr id="5" name="Rounded Rectangle 4"/>
          <p:cNvSpPr/>
          <p:nvPr/>
        </p:nvSpPr>
        <p:spPr>
          <a:xfrm>
            <a:off x="9829800" y="566928"/>
            <a:ext cx="1737360" cy="384048"/>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336699"/>
                </a:solidFill>
                <a:latin typeface="Aptos"/>
              </a:rPr>
              <a:t>Owner: Renu</a:t>
            </a:r>
          </a:p>
        </p:txBody>
      </p:sp>
      <p:pic>
        <p:nvPicPr>
          <p:cNvPr id="6" name="Picture 5" descr="phase1_memory_indices.png"/>
          <p:cNvPicPr>
            <a:picLocks noChangeAspect="1"/>
          </p:cNvPicPr>
          <p:nvPr/>
        </p:nvPicPr>
        <p:blipFill>
          <a:blip r:embed="rId2"/>
          <a:stretch>
            <a:fillRect/>
          </a:stretch>
        </p:blipFill>
        <p:spPr>
          <a:xfrm>
            <a:off x="502920" y="2626803"/>
            <a:ext cx="6629400" cy="2564513"/>
          </a:xfrm>
          <a:prstGeom prst="rect">
            <a:avLst/>
          </a:prstGeom>
        </p:spPr>
      </p:pic>
      <p:sp>
        <p:nvSpPr>
          <p:cNvPr id="7" name="Rounded Rectangle 6"/>
          <p:cNvSpPr/>
          <p:nvPr/>
        </p:nvSpPr>
        <p:spPr>
          <a:xfrm>
            <a:off x="7315200" y="1554480"/>
            <a:ext cx="4069080" cy="182880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79792" y="1664208"/>
            <a:ext cx="3739896" cy="274320"/>
          </a:xfrm>
          <a:prstGeom prst="rect">
            <a:avLst/>
          </a:prstGeom>
          <a:noFill/>
        </p:spPr>
        <p:txBody>
          <a:bodyPr wrap="none">
            <a:spAutoFit/>
          </a:bodyPr>
          <a:lstStyle/>
          <a:p>
            <a:r>
              <a:rPr sz="1300" b="1">
                <a:solidFill>
                  <a:srgbClr val="336699"/>
                </a:solidFill>
                <a:latin typeface="Aptos"/>
              </a:rPr>
              <a:t>Recognition memory (REC)</a:t>
            </a:r>
          </a:p>
        </p:txBody>
      </p:sp>
      <p:sp>
        <p:nvSpPr>
          <p:cNvPr id="9" name="TextBox 8"/>
          <p:cNvSpPr txBox="1"/>
          <p:nvPr/>
        </p:nvSpPr>
        <p:spPr>
          <a:xfrm>
            <a:off x="7479792" y="1938528"/>
            <a:ext cx="3739896" cy="1353312"/>
          </a:xfrm>
          <a:prstGeom prst="rect">
            <a:avLst/>
          </a:prstGeom>
          <a:noFill/>
        </p:spPr>
        <p:txBody>
          <a:bodyPr wrap="square">
            <a:spAutoFit/>
          </a:bodyPr>
          <a:lstStyle/>
          <a:p>
            <a:pPr>
              <a:spcAft>
                <a:spcPts val="500"/>
              </a:spcAft>
              <a:defRPr sz="1150">
                <a:solidFill>
                  <a:srgbClr val="282828"/>
                </a:solidFill>
                <a:latin typeface="Aptos"/>
              </a:defRPr>
            </a:pPr>
            <a:r>
              <a:t>`both`: F(2,96) = 6.45, p = 0.002</a:t>
            </a:r>
          </a:p>
          <a:p>
            <a:pPr>
              <a:spcAft>
                <a:spcPts val="500"/>
              </a:spcAft>
              <a:defRPr sz="1150">
                <a:solidFill>
                  <a:srgbClr val="282828"/>
                </a:solidFill>
                <a:latin typeface="Aptos"/>
              </a:defRPr>
            </a:pPr>
            <a:r>
              <a:t>Post REC in `both`: 0.561 vs mid 0.634 and pre 0.612</a:t>
            </a:r>
          </a:p>
          <a:p>
            <a:pPr>
              <a:spcAft>
                <a:spcPts val="500"/>
              </a:spcAft>
              <a:defRPr sz="1150">
                <a:solidFill>
                  <a:srgbClr val="282828"/>
                </a:solidFill>
                <a:latin typeface="Aptos"/>
              </a:defRPr>
            </a:pPr>
            <a:r>
              <a:t>`task_only`: F(2,104) = 4.62, p = 0.012</a:t>
            </a:r>
          </a:p>
        </p:txBody>
      </p:sp>
      <p:sp>
        <p:nvSpPr>
          <p:cNvPr id="10" name="Rounded Rectangle 9"/>
          <p:cNvSpPr/>
          <p:nvPr/>
        </p:nvSpPr>
        <p:spPr>
          <a:xfrm>
            <a:off x="7315200" y="3657600"/>
            <a:ext cx="4069080" cy="182880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79792" y="3767328"/>
            <a:ext cx="3739896" cy="274320"/>
          </a:xfrm>
          <a:prstGeom prst="rect">
            <a:avLst/>
          </a:prstGeom>
          <a:noFill/>
        </p:spPr>
        <p:txBody>
          <a:bodyPr wrap="none">
            <a:spAutoFit/>
          </a:bodyPr>
          <a:lstStyle/>
          <a:p>
            <a:r>
              <a:rPr sz="1300" b="1">
                <a:solidFill>
                  <a:srgbClr val="CB6C37"/>
                </a:solidFill>
                <a:latin typeface="Aptos"/>
              </a:rPr>
              <a:t>Lure discrimination (LDI)</a:t>
            </a:r>
          </a:p>
        </p:txBody>
      </p:sp>
      <p:sp>
        <p:nvSpPr>
          <p:cNvPr id="12" name="TextBox 11"/>
          <p:cNvSpPr txBox="1"/>
          <p:nvPr/>
        </p:nvSpPr>
        <p:spPr>
          <a:xfrm>
            <a:off x="7479792" y="4041648"/>
            <a:ext cx="3739896" cy="1353312"/>
          </a:xfrm>
          <a:prstGeom prst="rect">
            <a:avLst/>
          </a:prstGeom>
          <a:noFill/>
        </p:spPr>
        <p:txBody>
          <a:bodyPr wrap="square">
            <a:spAutoFit/>
          </a:bodyPr>
          <a:lstStyle/>
          <a:p>
            <a:pPr>
              <a:spcAft>
                <a:spcPts val="500"/>
              </a:spcAft>
              <a:defRPr sz="1150">
                <a:solidFill>
                  <a:srgbClr val="282828"/>
                </a:solidFill>
                <a:latin typeface="Aptos"/>
              </a:defRPr>
            </a:pPr>
            <a:r>
              <a:t>`item_only`: F(2,110) = 0.40, p = 0.675</a:t>
            </a:r>
          </a:p>
          <a:p>
            <a:pPr>
              <a:spcAft>
                <a:spcPts val="500"/>
              </a:spcAft>
              <a:defRPr sz="1150">
                <a:solidFill>
                  <a:srgbClr val="282828"/>
                </a:solidFill>
                <a:latin typeface="Aptos"/>
              </a:defRPr>
            </a:pPr>
            <a:r>
              <a:t>`both`: F(2,96) = 1.40, p = 0.252</a:t>
            </a:r>
          </a:p>
          <a:p>
            <a:pPr>
              <a:spcAft>
                <a:spcPts val="500"/>
              </a:spcAft>
              <a:defRPr sz="1150">
                <a:solidFill>
                  <a:srgbClr val="282828"/>
                </a:solidFill>
                <a:latin typeface="Aptos"/>
              </a:defRPr>
            </a:pPr>
            <a:r>
              <a:t>`task_only`: F(2,104) = 0.55, p = 0.577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8046720" cy="731520"/>
          </a:xfrm>
          <a:prstGeom prst="rect">
            <a:avLst/>
          </a:prstGeom>
          <a:noFill/>
        </p:spPr>
        <p:txBody>
          <a:bodyPr wrap="none">
            <a:spAutoFit/>
          </a:bodyPr>
          <a:lstStyle/>
          <a:p>
            <a:r>
              <a:rPr sz="2400" b="1">
                <a:solidFill>
                  <a:srgbClr val="14213D"/>
                </a:solidFill>
                <a:latin typeface="Aptos Display"/>
              </a:rPr>
              <a:t>Interpretation of Findings</a:t>
            </a:r>
          </a:p>
        </p:txBody>
      </p:sp>
      <p:sp>
        <p:nvSpPr>
          <p:cNvPr id="4" name="TextBox 3"/>
          <p:cNvSpPr txBox="1"/>
          <p:nvPr/>
        </p:nvSpPr>
        <p:spPr>
          <a:xfrm>
            <a:off x="530352" y="1024128"/>
            <a:ext cx="7863840" cy="411480"/>
          </a:xfrm>
          <a:prstGeom prst="rect">
            <a:avLst/>
          </a:prstGeom>
          <a:noFill/>
        </p:spPr>
        <p:txBody>
          <a:bodyPr wrap="none">
            <a:spAutoFit/>
          </a:bodyPr>
          <a:lstStyle/>
          <a:p>
            <a:r>
              <a:rPr sz="1150">
                <a:solidFill>
                  <a:srgbClr val="5C6670"/>
                </a:solidFill>
                <a:latin typeface="Aptos"/>
              </a:rPr>
              <a:t>What the exploratory pattern suggests</a:t>
            </a:r>
          </a:p>
        </p:txBody>
      </p:sp>
      <p:sp>
        <p:nvSpPr>
          <p:cNvPr id="5" name="Rounded Rectangle 4"/>
          <p:cNvSpPr/>
          <p:nvPr/>
        </p:nvSpPr>
        <p:spPr>
          <a:xfrm>
            <a:off x="9829800" y="566928"/>
            <a:ext cx="1737360" cy="384048"/>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336699"/>
                </a:solidFill>
                <a:latin typeface="Aptos"/>
              </a:rPr>
              <a:t>Owner: Renu</a:t>
            </a:r>
          </a:p>
        </p:txBody>
      </p:sp>
      <p:pic>
        <p:nvPicPr>
          <p:cNvPr id="6" name="Picture 5" descr="phase1_lure_bins.png"/>
          <p:cNvPicPr>
            <a:picLocks noChangeAspect="1"/>
          </p:cNvPicPr>
          <p:nvPr/>
        </p:nvPicPr>
        <p:blipFill>
          <a:blip r:embed="rId2"/>
          <a:stretch>
            <a:fillRect/>
          </a:stretch>
        </p:blipFill>
        <p:spPr>
          <a:xfrm>
            <a:off x="566928" y="2414714"/>
            <a:ext cx="6995160" cy="2851530"/>
          </a:xfrm>
          <a:prstGeom prst="rect">
            <a:avLst/>
          </a:prstGeom>
        </p:spPr>
      </p:pic>
      <p:sp>
        <p:nvSpPr>
          <p:cNvPr id="7" name="TextBox 6"/>
          <p:cNvSpPr txBox="1"/>
          <p:nvPr/>
        </p:nvSpPr>
        <p:spPr>
          <a:xfrm>
            <a:off x="7818120" y="1737360"/>
            <a:ext cx="3291840" cy="4114800"/>
          </a:xfrm>
          <a:prstGeom prst="rect">
            <a:avLst/>
          </a:prstGeom>
          <a:noFill/>
        </p:spPr>
        <p:txBody>
          <a:bodyPr wrap="square">
            <a:spAutoFit/>
          </a:bodyPr>
          <a:lstStyle/>
          <a:p>
            <a:pPr>
              <a:spcAft>
                <a:spcPts val="800"/>
              </a:spcAft>
              <a:defRPr sz="1500">
                <a:solidFill>
                  <a:srgbClr val="282828"/>
                </a:solidFill>
                <a:latin typeface="Aptos"/>
              </a:defRPr>
            </a:pPr>
            <a:r>
              <a:t>The boundary manipulation worked most strongly when the task rule changed, which supports an event-segmentation style processing cost.</a:t>
            </a:r>
          </a:p>
          <a:p>
            <a:pPr>
              <a:spcAft>
                <a:spcPts val="800"/>
              </a:spcAft>
              <a:defRPr sz="1500">
                <a:solidFill>
                  <a:srgbClr val="282828"/>
                </a:solidFill>
                <a:latin typeface="Aptos"/>
              </a:defRPr>
            </a:pPr>
            <a:r>
              <a:t>The clearest memory effect was weaker recognition for post-boundary items rather than better discrimination for pre-boundary items.</a:t>
            </a:r>
          </a:p>
          <a:p>
            <a:pPr>
              <a:spcAft>
                <a:spcPts val="800"/>
              </a:spcAft>
              <a:defRPr sz="1500">
                <a:solidFill>
                  <a:srgbClr val="282828"/>
                </a:solidFill>
                <a:latin typeface="Aptos"/>
              </a:defRPr>
            </a:pPr>
            <a:r>
              <a:t>Lure-bin curves still behaved as expected: discrimination improved as lures became less similar, which supports overall task validity.</a:t>
            </a:r>
          </a:p>
          <a:p>
            <a:pPr>
              <a:spcAft>
                <a:spcPts val="800"/>
              </a:spcAft>
              <a:defRPr sz="1500">
                <a:solidFill>
                  <a:srgbClr val="282828"/>
                </a:solidFill>
                <a:latin typeface="Aptos"/>
              </a:defRPr>
            </a:pPr>
            <a:r>
              <a:t>So the dataset looks usable, but the strongest next-phase target is the post-boundary recognition effect, not a simple LDI replication.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8046720" cy="731520"/>
          </a:xfrm>
          <a:prstGeom prst="rect">
            <a:avLst/>
          </a:prstGeom>
          <a:noFill/>
        </p:spPr>
        <p:txBody>
          <a:bodyPr wrap="none">
            <a:spAutoFit/>
          </a:bodyPr>
          <a:lstStyle/>
          <a:p>
            <a:r>
              <a:rPr sz="2400" b="1">
                <a:solidFill>
                  <a:srgbClr val="14213D"/>
                </a:solidFill>
                <a:latin typeface="Aptos Display"/>
              </a:rPr>
              <a:t>Conclusion and Future Plan</a:t>
            </a:r>
          </a:p>
        </p:txBody>
      </p:sp>
      <p:sp>
        <p:nvSpPr>
          <p:cNvPr id="4" name="TextBox 3"/>
          <p:cNvSpPr txBox="1"/>
          <p:nvPr/>
        </p:nvSpPr>
        <p:spPr>
          <a:xfrm>
            <a:off x="530352" y="1024128"/>
            <a:ext cx="7863840" cy="411480"/>
          </a:xfrm>
          <a:prstGeom prst="rect">
            <a:avLst/>
          </a:prstGeom>
          <a:noFill/>
        </p:spPr>
        <p:txBody>
          <a:bodyPr wrap="none">
            <a:spAutoFit/>
          </a:bodyPr>
          <a:lstStyle/>
          <a:p>
            <a:r>
              <a:rPr sz="1150">
                <a:solidFill>
                  <a:srgbClr val="5C6670"/>
                </a:solidFill>
                <a:latin typeface="Aptos"/>
              </a:rPr>
              <a:t>Phase 1 establishes a clean starting point for deeper testing</a:t>
            </a:r>
          </a:p>
        </p:txBody>
      </p:sp>
      <p:sp>
        <p:nvSpPr>
          <p:cNvPr id="5" name="Rounded Rectangle 4"/>
          <p:cNvSpPr/>
          <p:nvPr/>
        </p:nvSpPr>
        <p:spPr>
          <a:xfrm>
            <a:off x="9829800" y="566928"/>
            <a:ext cx="1737360" cy="384048"/>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336699"/>
                </a:solidFill>
                <a:latin typeface="Aptos"/>
              </a:rPr>
              <a:t>Owner: Pavan</a:t>
            </a:r>
          </a:p>
        </p:txBody>
      </p:sp>
      <p:sp>
        <p:nvSpPr>
          <p:cNvPr id="6" name="Rounded Rectangle 5"/>
          <p:cNvSpPr/>
          <p:nvPr/>
        </p:nvSpPr>
        <p:spPr>
          <a:xfrm>
            <a:off x="731520" y="1600200"/>
            <a:ext cx="3474720" cy="347472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09928"/>
            <a:ext cx="3145536" cy="274320"/>
          </a:xfrm>
          <a:prstGeom prst="rect">
            <a:avLst/>
          </a:prstGeom>
          <a:noFill/>
        </p:spPr>
        <p:txBody>
          <a:bodyPr wrap="none">
            <a:spAutoFit/>
          </a:bodyPr>
          <a:lstStyle/>
          <a:p>
            <a:r>
              <a:rPr sz="1300" b="1">
                <a:solidFill>
                  <a:srgbClr val="336699"/>
                </a:solidFill>
                <a:latin typeface="Aptos"/>
              </a:rPr>
              <a:t>Conclusion</a:t>
            </a:r>
          </a:p>
        </p:txBody>
      </p:sp>
      <p:sp>
        <p:nvSpPr>
          <p:cNvPr id="8" name="TextBox 7"/>
          <p:cNvSpPr txBox="1"/>
          <p:nvPr/>
        </p:nvSpPr>
        <p:spPr>
          <a:xfrm>
            <a:off x="896112" y="1984248"/>
            <a:ext cx="3145536" cy="2999232"/>
          </a:xfrm>
          <a:prstGeom prst="rect">
            <a:avLst/>
          </a:prstGeom>
          <a:noFill/>
        </p:spPr>
        <p:txBody>
          <a:bodyPr wrap="square">
            <a:spAutoFit/>
          </a:bodyPr>
          <a:lstStyle/>
          <a:p>
            <a:pPr>
              <a:spcAft>
                <a:spcPts val="500"/>
              </a:spcAft>
              <a:defRPr sz="1150">
                <a:solidFill>
                  <a:srgbClr val="282828"/>
                </a:solidFill>
                <a:latin typeface="Aptos"/>
              </a:defRPr>
            </a:pPr>
            <a:r>
              <a:t>The data support a strong boundary-related processing effect.</a:t>
            </a:r>
          </a:p>
          <a:p>
            <a:pPr>
              <a:spcAft>
                <a:spcPts val="500"/>
              </a:spcAft>
              <a:defRPr sz="1150">
                <a:solidFill>
                  <a:srgbClr val="282828"/>
                </a:solidFill>
                <a:latin typeface="Aptos"/>
              </a:defRPr>
            </a:pPr>
            <a:r>
              <a:t>Recognition memory shows a post-boundary cost, strongest in `both`.</a:t>
            </a:r>
          </a:p>
          <a:p>
            <a:pPr>
              <a:spcAft>
                <a:spcPts val="500"/>
              </a:spcAft>
              <a:defRPr sz="1150">
                <a:solidFill>
                  <a:srgbClr val="282828"/>
                </a:solidFill>
                <a:latin typeface="Aptos"/>
              </a:defRPr>
            </a:pPr>
            <a:r>
              <a:t>The predicted pre-boundary LDI benefit did not replicate clearly.</a:t>
            </a:r>
          </a:p>
        </p:txBody>
      </p:sp>
      <p:sp>
        <p:nvSpPr>
          <p:cNvPr id="9" name="Rounded Rectangle 8"/>
          <p:cNvSpPr/>
          <p:nvPr/>
        </p:nvSpPr>
        <p:spPr>
          <a:xfrm>
            <a:off x="4389120" y="1600200"/>
            <a:ext cx="3474720" cy="347472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1709928"/>
            <a:ext cx="3145536" cy="274320"/>
          </a:xfrm>
          <a:prstGeom prst="rect">
            <a:avLst/>
          </a:prstGeom>
          <a:noFill/>
        </p:spPr>
        <p:txBody>
          <a:bodyPr wrap="none">
            <a:spAutoFit/>
          </a:bodyPr>
          <a:lstStyle/>
          <a:p>
            <a:r>
              <a:rPr sz="1300" b="1">
                <a:solidFill>
                  <a:srgbClr val="238488"/>
                </a:solidFill>
                <a:latin typeface="Aptos"/>
              </a:rPr>
              <a:t>Why this still matters</a:t>
            </a:r>
          </a:p>
        </p:txBody>
      </p:sp>
      <p:sp>
        <p:nvSpPr>
          <p:cNvPr id="11" name="TextBox 10"/>
          <p:cNvSpPr txBox="1"/>
          <p:nvPr/>
        </p:nvSpPr>
        <p:spPr>
          <a:xfrm>
            <a:off x="4553712" y="1984248"/>
            <a:ext cx="3145536" cy="2999232"/>
          </a:xfrm>
          <a:prstGeom prst="rect">
            <a:avLst/>
          </a:prstGeom>
          <a:noFill/>
        </p:spPr>
        <p:txBody>
          <a:bodyPr wrap="square">
            <a:spAutoFit/>
          </a:bodyPr>
          <a:lstStyle/>
          <a:p>
            <a:pPr>
              <a:spcAft>
                <a:spcPts val="500"/>
              </a:spcAft>
              <a:defRPr sz="1150">
                <a:solidFill>
                  <a:srgbClr val="282828"/>
                </a:solidFill>
                <a:latin typeface="Aptos"/>
              </a:defRPr>
            </a:pPr>
            <a:r>
              <a:t>The response profiles and lure-bin curves indicate valid MST behavior.</a:t>
            </a:r>
          </a:p>
          <a:p>
            <a:pPr>
              <a:spcAft>
                <a:spcPts val="500"/>
              </a:spcAft>
              <a:defRPr sz="1150">
                <a:solidFill>
                  <a:srgbClr val="282828"/>
                </a:solidFill>
                <a:latin typeface="Aptos"/>
              </a:defRPr>
            </a:pPr>
            <a:r>
              <a:t>The exploratory phase narrowed the space of plausible next-step analyses.</a:t>
            </a:r>
          </a:p>
          <a:p>
            <a:pPr>
              <a:spcAft>
                <a:spcPts val="500"/>
              </a:spcAft>
              <a:defRPr sz="1150">
                <a:solidFill>
                  <a:srgbClr val="282828"/>
                </a:solidFill>
                <a:latin typeface="Aptos"/>
              </a:defRPr>
            </a:pPr>
            <a:r>
              <a:t>The strongest signal is now clearly identified for follow-up work.</a:t>
            </a:r>
          </a:p>
        </p:txBody>
      </p:sp>
      <p:sp>
        <p:nvSpPr>
          <p:cNvPr id="12" name="Rounded Rectangle 11"/>
          <p:cNvSpPr/>
          <p:nvPr/>
        </p:nvSpPr>
        <p:spPr>
          <a:xfrm>
            <a:off x="8046720" y="1600200"/>
            <a:ext cx="3474720" cy="3474720"/>
          </a:xfrm>
          <a:prstGeom prst="roundRect">
            <a:avLst/>
          </a:prstGeom>
          <a:solidFill>
            <a:srgbClr val="FFFFFF"/>
          </a:solidFill>
          <a:ln>
            <a:solidFill>
              <a:srgbClr val="E4E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2" y="1709928"/>
            <a:ext cx="3145536" cy="274320"/>
          </a:xfrm>
          <a:prstGeom prst="rect">
            <a:avLst/>
          </a:prstGeom>
          <a:noFill/>
        </p:spPr>
        <p:txBody>
          <a:bodyPr wrap="none">
            <a:spAutoFit/>
          </a:bodyPr>
          <a:lstStyle/>
          <a:p>
            <a:r>
              <a:rPr sz="1300" b="1">
                <a:solidFill>
                  <a:srgbClr val="2D7D50"/>
                </a:solidFill>
                <a:latin typeface="Aptos"/>
              </a:rPr>
              <a:t>Future plan</a:t>
            </a:r>
          </a:p>
        </p:txBody>
      </p:sp>
      <p:sp>
        <p:nvSpPr>
          <p:cNvPr id="14" name="TextBox 13"/>
          <p:cNvSpPr txBox="1"/>
          <p:nvPr/>
        </p:nvSpPr>
        <p:spPr>
          <a:xfrm>
            <a:off x="8211312" y="1984248"/>
            <a:ext cx="3145536" cy="2999232"/>
          </a:xfrm>
          <a:prstGeom prst="rect">
            <a:avLst/>
          </a:prstGeom>
          <a:noFill/>
        </p:spPr>
        <p:txBody>
          <a:bodyPr wrap="square">
            <a:spAutoFit/>
          </a:bodyPr>
          <a:lstStyle/>
          <a:p>
            <a:pPr>
              <a:spcAft>
                <a:spcPts val="500"/>
              </a:spcAft>
              <a:defRPr sz="1150">
                <a:solidFill>
                  <a:srgbClr val="282828"/>
                </a:solidFill>
                <a:latin typeface="Aptos"/>
              </a:defRPr>
            </a:pPr>
            <a:r>
              <a:t>Test the post-boundary recognition effect more directly in Phase 2.</a:t>
            </a:r>
          </a:p>
          <a:p>
            <a:pPr>
              <a:spcAft>
                <a:spcPts val="500"/>
              </a:spcAft>
              <a:defRPr sz="1150">
                <a:solidFill>
                  <a:srgbClr val="282828"/>
                </a:solidFill>
                <a:latin typeface="Aptos"/>
              </a:defRPr>
            </a:pPr>
            <a:r>
              <a:t>Examine subject-level heterogeneity and possible boundary-implementation differences.</a:t>
            </a:r>
          </a:p>
          <a:p>
            <a:pPr>
              <a:spcAft>
                <a:spcPts val="500"/>
              </a:spcAft>
              <a:defRPr sz="1150">
                <a:solidFill>
                  <a:srgbClr val="282828"/>
                </a:solidFill>
                <a:latin typeface="Aptos"/>
              </a:defRPr>
            </a:pPr>
            <a:r>
              <a:t>Refine the analysis to understand why LDI did not show the expected directional advantage.</a:t>
            </a:r>
          </a:p>
        </p:txBody>
      </p:sp>
      <p:sp>
        <p:nvSpPr>
          <p:cNvPr id="15" name="TextBox 14"/>
          <p:cNvSpPr txBox="1"/>
          <p:nvPr/>
        </p:nvSpPr>
        <p:spPr>
          <a:xfrm>
            <a:off x="914400" y="5486400"/>
            <a:ext cx="10058400" cy="411480"/>
          </a:xfrm>
          <a:prstGeom prst="rect">
            <a:avLst/>
          </a:prstGeom>
          <a:noFill/>
        </p:spPr>
        <p:txBody>
          <a:bodyPr wrap="none">
            <a:spAutoFit/>
          </a:bodyPr>
          <a:lstStyle/>
          <a:p>
            <a:pPr algn="ctr"/>
            <a:r>
              <a:rPr sz="2000" b="1">
                <a:solidFill>
                  <a:srgbClr val="14213D"/>
                </a:solidFill>
                <a:latin typeface="Aptos Display"/>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